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4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9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52" d="100"/>
          <a:sy n="152" d="100"/>
        </p:scale>
        <p:origin x="1662" y="13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tableStyles" Target="tableStyles.xml"/><Relationship Id="rId18" Type="http://schemas.openxmlformats.org/officeDocument/2006/relationships/viewProps" Target="viewProps.xml"/><Relationship Id="rId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5230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242824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1B4AD7B-8A90-8F4A-941D-1F7D93204411}" type="datetimeFigureOut">
              <a:rPr lang="en-US"/>
              <a:t>5/23/2026</a:t>
            </a:fld>
            <a:endParaRPr lang="en-US"/>
          </a:p>
        </p:txBody>
      </p:sp>
      <p:sp>
        <p:nvSpPr>
          <p:cNvPr id="97613006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5176609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384335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752751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3F76437-9242-9840-9C11-6E3846F265E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034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915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206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2F5868-0678-05C3-F9D0-8F4ED7A6A3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867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4815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436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824351-96E3-44CF-D404-13078B97F6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A25720-2E73-1A1D-917E-757AE45735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472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9856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435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2132A-2FC3-24D2-C354-5605319A90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5859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3826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998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B87EB5-1206-974E-CF4E-DEECC5C733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911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87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741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BF2BE-77E5-C0DE-FC6A-EC08232EA5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207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2765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8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A4E39F-7D2B-545F-FB8D-61D9E7F1CF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22615-1343-984C-D29E-8BE6268D83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Slide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253270" name="Title 1"/>
          <p:cNvSpPr>
            <a:spLocks noGrp="1"/>
          </p:cNvSpPr>
          <p:nvPr>
            <p:ph type="ctrTitle"/>
          </p:nvPr>
        </p:nvSpPr>
        <p:spPr bwMode="auto">
          <a:xfrm>
            <a:off x="3357290" y="2813447"/>
            <a:ext cx="5796542" cy="1231106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718080047" name="Slide Number Placeholder 2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6832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5203632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uk-UA"/>
          </a:p>
        </p:txBody>
      </p:sp>
      <p:sp>
        <p:nvSpPr>
          <p:cNvPr id="20949111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70654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6770112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9008381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77212384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uk-UA"/>
          </a:p>
        </p:txBody>
      </p:sp>
      <p:sp>
        <p:nvSpPr>
          <p:cNvPr id="6251772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9364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177335260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Only" userDrawn="1">
  <p:cSld name="Title Only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01118" name="Title 1"/>
          <p:cNvSpPr>
            <a:spLocks noGrp="1"/>
          </p:cNvSpPr>
          <p:nvPr>
            <p:ph type="title"/>
          </p:nvPr>
        </p:nvSpPr>
        <p:spPr bwMode="auto">
          <a:xfrm>
            <a:off x="360000" y="360364"/>
            <a:ext cx="8302219" cy="304699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2731531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  <p:pic>
        <p:nvPicPr>
          <p:cNvPr id="370159588" name="Picture 2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8784000" y="0"/>
            <a:ext cx="539497" cy="6437389"/>
          </a:xfrm>
          <a:prstGeom prst="rect">
            <a:avLst/>
          </a:prstGeom>
        </p:spPr>
      </p:pic>
      <p:sp>
        <p:nvSpPr>
          <p:cNvPr id="1176375056" name="Freeform: Shape 3"/>
          <p:cNvSpPr/>
          <p:nvPr userDrawn="1"/>
        </p:nvSpPr>
        <p:spPr bwMode="auto">
          <a:xfrm>
            <a:off x="368300" y="6364668"/>
            <a:ext cx="992187" cy="227925"/>
          </a:xfrm>
          <a:custGeom>
            <a:avLst/>
            <a:gdLst>
              <a:gd name="connsiteX0" fmla="*/ 0 w 992187"/>
              <a:gd name="connsiteY0" fmla="*/ 0 h 227926"/>
              <a:gd name="connsiteX1" fmla="*/ 24282 w 992187"/>
              <a:gd name="connsiteY1" fmla="*/ 0 h 227926"/>
              <a:gd name="connsiteX2" fmla="*/ 24282 w 992187"/>
              <a:gd name="connsiteY2" fmla="*/ 227927 h 227926"/>
              <a:gd name="connsiteX3" fmla="*/ 0 w 992187"/>
              <a:gd name="connsiteY3" fmla="*/ 227927 h 227926"/>
              <a:gd name="connsiteX4" fmla="*/ 0 w 992187"/>
              <a:gd name="connsiteY4" fmla="*/ 0 h 227926"/>
              <a:gd name="connsiteX5" fmla="*/ 296349 w 992187"/>
              <a:gd name="connsiteY5" fmla="*/ 0 h 227926"/>
              <a:gd name="connsiteX6" fmla="*/ 252738 w 992187"/>
              <a:gd name="connsiteY6" fmla="*/ 116954 h 227926"/>
              <a:gd name="connsiteX7" fmla="*/ 239847 w 992187"/>
              <a:gd name="connsiteY7" fmla="*/ 152286 h 227926"/>
              <a:gd name="connsiteX8" fmla="*/ 229928 w 992187"/>
              <a:gd name="connsiteY8" fmla="*/ 181115 h 227926"/>
              <a:gd name="connsiteX9" fmla="*/ 227465 w 992187"/>
              <a:gd name="connsiteY9" fmla="*/ 188366 h 227926"/>
              <a:gd name="connsiteX10" fmla="*/ 211399 w 992187"/>
              <a:gd name="connsiteY10" fmla="*/ 188366 h 227926"/>
              <a:gd name="connsiteX11" fmla="*/ 208948 w 992187"/>
              <a:gd name="connsiteY11" fmla="*/ 181102 h 227926"/>
              <a:gd name="connsiteX12" fmla="*/ 199029 w 992187"/>
              <a:gd name="connsiteY12" fmla="*/ 152273 h 227926"/>
              <a:gd name="connsiteX13" fmla="*/ 186113 w 992187"/>
              <a:gd name="connsiteY13" fmla="*/ 116903 h 227926"/>
              <a:gd name="connsiteX14" fmla="*/ 142514 w 992187"/>
              <a:gd name="connsiteY14" fmla="*/ 0 h 227926"/>
              <a:gd name="connsiteX15" fmla="*/ 116962 w 992187"/>
              <a:gd name="connsiteY15" fmla="*/ 0 h 227926"/>
              <a:gd name="connsiteX16" fmla="*/ 206052 w 992187"/>
              <a:gd name="connsiteY16" fmla="*/ 227927 h 227926"/>
              <a:gd name="connsiteX17" fmla="*/ 232456 w 992187"/>
              <a:gd name="connsiteY17" fmla="*/ 227927 h 227926"/>
              <a:gd name="connsiteX18" fmla="*/ 321534 w 992187"/>
              <a:gd name="connsiteY18" fmla="*/ 0 h 227926"/>
              <a:gd name="connsiteX19" fmla="*/ 296349 w 992187"/>
              <a:gd name="connsiteY19" fmla="*/ 0 h 227926"/>
              <a:gd name="connsiteX20" fmla="*/ 414033 w 992187"/>
              <a:gd name="connsiteY20" fmla="*/ 227927 h 227926"/>
              <a:gd name="connsiteX21" fmla="*/ 438315 w 992187"/>
              <a:gd name="connsiteY21" fmla="*/ 227927 h 227926"/>
              <a:gd name="connsiteX22" fmla="*/ 438315 w 992187"/>
              <a:gd name="connsiteY22" fmla="*/ 0 h 227926"/>
              <a:gd name="connsiteX23" fmla="*/ 414033 w 992187"/>
              <a:gd name="connsiteY23" fmla="*/ 0 h 227926"/>
              <a:gd name="connsiteX24" fmla="*/ 414033 w 992187"/>
              <a:gd name="connsiteY24" fmla="*/ 227927 h 227926"/>
              <a:gd name="connsiteX25" fmla="*/ 710386 w 992187"/>
              <a:gd name="connsiteY25" fmla="*/ 0 h 227926"/>
              <a:gd name="connsiteX26" fmla="*/ 666774 w 992187"/>
              <a:gd name="connsiteY26" fmla="*/ 116954 h 227926"/>
              <a:gd name="connsiteX27" fmla="*/ 653884 w 992187"/>
              <a:gd name="connsiteY27" fmla="*/ 152273 h 227926"/>
              <a:gd name="connsiteX28" fmla="*/ 643965 w 992187"/>
              <a:gd name="connsiteY28" fmla="*/ 181115 h 227926"/>
              <a:gd name="connsiteX29" fmla="*/ 641501 w 992187"/>
              <a:gd name="connsiteY29" fmla="*/ 188366 h 227926"/>
              <a:gd name="connsiteX30" fmla="*/ 625448 w 992187"/>
              <a:gd name="connsiteY30" fmla="*/ 188366 h 227926"/>
              <a:gd name="connsiteX31" fmla="*/ 622985 w 992187"/>
              <a:gd name="connsiteY31" fmla="*/ 181115 h 227926"/>
              <a:gd name="connsiteX32" fmla="*/ 613066 w 992187"/>
              <a:gd name="connsiteY32" fmla="*/ 152273 h 227926"/>
              <a:gd name="connsiteX33" fmla="*/ 600163 w 992187"/>
              <a:gd name="connsiteY33" fmla="*/ 116903 h 227926"/>
              <a:gd name="connsiteX34" fmla="*/ 556564 w 992187"/>
              <a:gd name="connsiteY34" fmla="*/ 0 h 227926"/>
              <a:gd name="connsiteX35" fmla="*/ 530998 w 992187"/>
              <a:gd name="connsiteY35" fmla="*/ 0 h 227926"/>
              <a:gd name="connsiteX36" fmla="*/ 620089 w 992187"/>
              <a:gd name="connsiteY36" fmla="*/ 227927 h 227926"/>
              <a:gd name="connsiteX37" fmla="*/ 646492 w 992187"/>
              <a:gd name="connsiteY37" fmla="*/ 227927 h 227926"/>
              <a:gd name="connsiteX38" fmla="*/ 735570 w 992187"/>
              <a:gd name="connsiteY38" fmla="*/ 0 h 227926"/>
              <a:gd name="connsiteX39" fmla="*/ 710386 w 992187"/>
              <a:gd name="connsiteY39" fmla="*/ 0 h 227926"/>
              <a:gd name="connsiteX40" fmla="*/ 880246 w 992187"/>
              <a:gd name="connsiteY40" fmla="*/ 38633 h 227926"/>
              <a:gd name="connsiteX41" fmla="*/ 896337 w 992187"/>
              <a:gd name="connsiteY41" fmla="*/ 38633 h 227926"/>
              <a:gd name="connsiteX42" fmla="*/ 898801 w 992187"/>
              <a:gd name="connsiteY42" fmla="*/ 45885 h 227926"/>
              <a:gd name="connsiteX43" fmla="*/ 967041 w 992187"/>
              <a:gd name="connsiteY43" fmla="*/ 227927 h 227926"/>
              <a:gd name="connsiteX44" fmla="*/ 992188 w 992187"/>
              <a:gd name="connsiteY44" fmla="*/ 227927 h 227926"/>
              <a:gd name="connsiteX45" fmla="*/ 901738 w 992187"/>
              <a:gd name="connsiteY45" fmla="*/ 0 h 227926"/>
              <a:gd name="connsiteX46" fmla="*/ 874506 w 992187"/>
              <a:gd name="connsiteY46" fmla="*/ 0 h 227926"/>
              <a:gd name="connsiteX47" fmla="*/ 784056 w 992187"/>
              <a:gd name="connsiteY47" fmla="*/ 227927 h 227926"/>
              <a:gd name="connsiteX48" fmla="*/ 809583 w 992187"/>
              <a:gd name="connsiteY48" fmla="*/ 227927 h 227926"/>
              <a:gd name="connsiteX49" fmla="*/ 877807 w 992187"/>
              <a:gd name="connsiteY49" fmla="*/ 45923 h 227926"/>
              <a:gd name="connsiteX50" fmla="*/ 880246 w 992187"/>
              <a:gd name="connsiteY50" fmla="*/ 38633 h 22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992187" h="227926" fill="norm" stroke="1" extrusionOk="0">
                <a:moveTo>
                  <a:pt x="0" y="0"/>
                </a:moveTo>
                <a:lnTo>
                  <a:pt x="24282" y="0"/>
                </a:lnTo>
                <a:lnTo>
                  <a:pt x="24282" y="227927"/>
                </a:lnTo>
                <a:lnTo>
                  <a:pt x="0" y="227927"/>
                </a:lnTo>
                <a:lnTo>
                  <a:pt x="0" y="0"/>
                </a:lnTo>
                <a:close/>
                <a:moveTo>
                  <a:pt x="296349" y="0"/>
                </a:moveTo>
                <a:lnTo>
                  <a:pt x="252738" y="116954"/>
                </a:lnTo>
                <a:cubicBezTo>
                  <a:pt x="246184" y="134734"/>
                  <a:pt x="241892" y="146533"/>
                  <a:pt x="239847" y="152286"/>
                </a:cubicBezTo>
                <a:cubicBezTo>
                  <a:pt x="237802" y="158026"/>
                  <a:pt x="234500" y="167653"/>
                  <a:pt x="229928" y="181115"/>
                </a:cubicBezTo>
                <a:lnTo>
                  <a:pt x="227465" y="188366"/>
                </a:lnTo>
                <a:lnTo>
                  <a:pt x="211399" y="188366"/>
                </a:lnTo>
                <a:lnTo>
                  <a:pt x="208948" y="181102"/>
                </a:lnTo>
                <a:cubicBezTo>
                  <a:pt x="204376" y="167653"/>
                  <a:pt x="201061" y="158026"/>
                  <a:pt x="199029" y="152273"/>
                </a:cubicBezTo>
                <a:cubicBezTo>
                  <a:pt x="196985" y="146520"/>
                  <a:pt x="192679" y="134734"/>
                  <a:pt x="186113" y="116903"/>
                </a:cubicBezTo>
                <a:lnTo>
                  <a:pt x="142514" y="0"/>
                </a:lnTo>
                <a:lnTo>
                  <a:pt x="116962" y="0"/>
                </a:lnTo>
                <a:lnTo>
                  <a:pt x="206052" y="227927"/>
                </a:lnTo>
                <a:lnTo>
                  <a:pt x="232456" y="227927"/>
                </a:lnTo>
                <a:lnTo>
                  <a:pt x="321534" y="0"/>
                </a:lnTo>
                <a:lnTo>
                  <a:pt x="296349" y="0"/>
                </a:lnTo>
                <a:close/>
                <a:moveTo>
                  <a:pt x="414033" y="227927"/>
                </a:moveTo>
                <a:lnTo>
                  <a:pt x="438315" y="227927"/>
                </a:lnTo>
                <a:lnTo>
                  <a:pt x="438315" y="0"/>
                </a:lnTo>
                <a:lnTo>
                  <a:pt x="414033" y="0"/>
                </a:lnTo>
                <a:lnTo>
                  <a:pt x="414033" y="227927"/>
                </a:lnTo>
                <a:close/>
                <a:moveTo>
                  <a:pt x="710386" y="0"/>
                </a:moveTo>
                <a:lnTo>
                  <a:pt x="666774" y="116954"/>
                </a:lnTo>
                <a:cubicBezTo>
                  <a:pt x="660221" y="134734"/>
                  <a:pt x="655916" y="146520"/>
                  <a:pt x="653884" y="152273"/>
                </a:cubicBezTo>
                <a:cubicBezTo>
                  <a:pt x="651839" y="158026"/>
                  <a:pt x="648537" y="167653"/>
                  <a:pt x="643965" y="181115"/>
                </a:cubicBezTo>
                <a:lnTo>
                  <a:pt x="641501" y="188366"/>
                </a:lnTo>
                <a:lnTo>
                  <a:pt x="625448" y="188366"/>
                </a:lnTo>
                <a:lnTo>
                  <a:pt x="622985" y="181115"/>
                </a:lnTo>
                <a:cubicBezTo>
                  <a:pt x="618413" y="167653"/>
                  <a:pt x="615111" y="158026"/>
                  <a:pt x="613066" y="152273"/>
                </a:cubicBezTo>
                <a:cubicBezTo>
                  <a:pt x="611021" y="146533"/>
                  <a:pt x="606716" y="134734"/>
                  <a:pt x="600163" y="116903"/>
                </a:cubicBezTo>
                <a:lnTo>
                  <a:pt x="556564" y="0"/>
                </a:lnTo>
                <a:lnTo>
                  <a:pt x="530998" y="0"/>
                </a:lnTo>
                <a:lnTo>
                  <a:pt x="620089" y="227927"/>
                </a:lnTo>
                <a:lnTo>
                  <a:pt x="646492" y="227927"/>
                </a:lnTo>
                <a:lnTo>
                  <a:pt x="735570" y="0"/>
                </a:lnTo>
                <a:lnTo>
                  <a:pt x="710386" y="0"/>
                </a:lnTo>
                <a:close/>
                <a:moveTo>
                  <a:pt x="880246" y="38633"/>
                </a:moveTo>
                <a:lnTo>
                  <a:pt x="896337" y="38633"/>
                </a:lnTo>
                <a:lnTo>
                  <a:pt x="898801" y="45885"/>
                </a:lnTo>
                <a:cubicBezTo>
                  <a:pt x="906132" y="67501"/>
                  <a:pt x="951725" y="187668"/>
                  <a:pt x="967041" y="227927"/>
                </a:cubicBezTo>
                <a:lnTo>
                  <a:pt x="992188" y="227927"/>
                </a:lnTo>
                <a:lnTo>
                  <a:pt x="901738" y="0"/>
                </a:lnTo>
                <a:lnTo>
                  <a:pt x="874506" y="0"/>
                </a:lnTo>
                <a:lnTo>
                  <a:pt x="784056" y="227927"/>
                </a:lnTo>
                <a:lnTo>
                  <a:pt x="809583" y="227927"/>
                </a:lnTo>
                <a:cubicBezTo>
                  <a:pt x="821585" y="196431"/>
                  <a:pt x="870353" y="68225"/>
                  <a:pt x="877807" y="45923"/>
                </a:cubicBezTo>
                <a:lnTo>
                  <a:pt x="880246" y="38633"/>
                </a:lnTo>
                <a:close/>
              </a:path>
            </a:pathLst>
          </a:custGeom>
          <a:solidFill>
            <a:srgbClr val="96337B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1703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053275" name="Title Placeholder 1"/>
          <p:cNvSpPr>
            <a:spLocks noGrp="1"/>
          </p:cNvSpPr>
          <p:nvPr>
            <p:ph type="title"/>
          </p:nvPr>
        </p:nvSpPr>
        <p:spPr bwMode="auto">
          <a:xfrm>
            <a:off x="360000" y="360364"/>
            <a:ext cx="10944000" cy="3046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15648615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0000" y="1080000"/>
            <a:ext cx="1094400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uk-UA"/>
          </a:p>
        </p:txBody>
      </p:sp>
      <p:pic>
        <p:nvPicPr>
          <p:cNvPr id="2024784939" name="Picture 3"/>
          <p:cNvPicPr>
            <a:picLocks noChangeAspect="1"/>
          </p:cNvPicPr>
          <p:nvPr userDrawn="1"/>
        </p:nvPicPr>
        <p:blipFill rotWithShape="1">
          <a:blip r:embed="rId8"/>
          <a:stretch/>
        </p:blipFill>
        <p:spPr bwMode="auto">
          <a:xfrm>
            <a:off x="11469600" y="0"/>
            <a:ext cx="539497" cy="6437389"/>
          </a:xfrm>
          <a:prstGeom prst="rect">
            <a:avLst/>
          </a:prstGeom>
        </p:spPr>
      </p:pic>
      <p:sp>
        <p:nvSpPr>
          <p:cNvPr id="3827746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665430" y="6580287"/>
            <a:ext cx="379387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22508EA-8754-4B34-9CBF-483A9F6467DD}" type="slidenum">
              <a:rPr lang="uk-UA"/>
              <a:t>‹#›</a:t>
            </a:fld>
            <a:endParaRPr lang="uk-UA"/>
          </a:p>
        </p:txBody>
      </p:sp>
      <p:sp>
        <p:nvSpPr>
          <p:cNvPr id="100106346" name="Freeform: Shape 4"/>
          <p:cNvSpPr/>
          <p:nvPr userDrawn="1"/>
        </p:nvSpPr>
        <p:spPr bwMode="auto">
          <a:xfrm>
            <a:off x="368300" y="6364668"/>
            <a:ext cx="992187" cy="227925"/>
          </a:xfrm>
          <a:custGeom>
            <a:avLst/>
            <a:gdLst>
              <a:gd name="connsiteX0" fmla="*/ 0 w 992187"/>
              <a:gd name="connsiteY0" fmla="*/ 0 h 227926"/>
              <a:gd name="connsiteX1" fmla="*/ 24282 w 992187"/>
              <a:gd name="connsiteY1" fmla="*/ 0 h 227926"/>
              <a:gd name="connsiteX2" fmla="*/ 24282 w 992187"/>
              <a:gd name="connsiteY2" fmla="*/ 227927 h 227926"/>
              <a:gd name="connsiteX3" fmla="*/ 0 w 992187"/>
              <a:gd name="connsiteY3" fmla="*/ 227927 h 227926"/>
              <a:gd name="connsiteX4" fmla="*/ 0 w 992187"/>
              <a:gd name="connsiteY4" fmla="*/ 0 h 227926"/>
              <a:gd name="connsiteX5" fmla="*/ 296349 w 992187"/>
              <a:gd name="connsiteY5" fmla="*/ 0 h 227926"/>
              <a:gd name="connsiteX6" fmla="*/ 252738 w 992187"/>
              <a:gd name="connsiteY6" fmla="*/ 116954 h 227926"/>
              <a:gd name="connsiteX7" fmla="*/ 239847 w 992187"/>
              <a:gd name="connsiteY7" fmla="*/ 152286 h 227926"/>
              <a:gd name="connsiteX8" fmla="*/ 229928 w 992187"/>
              <a:gd name="connsiteY8" fmla="*/ 181115 h 227926"/>
              <a:gd name="connsiteX9" fmla="*/ 227465 w 992187"/>
              <a:gd name="connsiteY9" fmla="*/ 188366 h 227926"/>
              <a:gd name="connsiteX10" fmla="*/ 211399 w 992187"/>
              <a:gd name="connsiteY10" fmla="*/ 188366 h 227926"/>
              <a:gd name="connsiteX11" fmla="*/ 208948 w 992187"/>
              <a:gd name="connsiteY11" fmla="*/ 181102 h 227926"/>
              <a:gd name="connsiteX12" fmla="*/ 199029 w 992187"/>
              <a:gd name="connsiteY12" fmla="*/ 152273 h 227926"/>
              <a:gd name="connsiteX13" fmla="*/ 186113 w 992187"/>
              <a:gd name="connsiteY13" fmla="*/ 116903 h 227926"/>
              <a:gd name="connsiteX14" fmla="*/ 142514 w 992187"/>
              <a:gd name="connsiteY14" fmla="*/ 0 h 227926"/>
              <a:gd name="connsiteX15" fmla="*/ 116962 w 992187"/>
              <a:gd name="connsiteY15" fmla="*/ 0 h 227926"/>
              <a:gd name="connsiteX16" fmla="*/ 206052 w 992187"/>
              <a:gd name="connsiteY16" fmla="*/ 227927 h 227926"/>
              <a:gd name="connsiteX17" fmla="*/ 232456 w 992187"/>
              <a:gd name="connsiteY17" fmla="*/ 227927 h 227926"/>
              <a:gd name="connsiteX18" fmla="*/ 321534 w 992187"/>
              <a:gd name="connsiteY18" fmla="*/ 0 h 227926"/>
              <a:gd name="connsiteX19" fmla="*/ 296349 w 992187"/>
              <a:gd name="connsiteY19" fmla="*/ 0 h 227926"/>
              <a:gd name="connsiteX20" fmla="*/ 414033 w 992187"/>
              <a:gd name="connsiteY20" fmla="*/ 227927 h 227926"/>
              <a:gd name="connsiteX21" fmla="*/ 438315 w 992187"/>
              <a:gd name="connsiteY21" fmla="*/ 227927 h 227926"/>
              <a:gd name="connsiteX22" fmla="*/ 438315 w 992187"/>
              <a:gd name="connsiteY22" fmla="*/ 0 h 227926"/>
              <a:gd name="connsiteX23" fmla="*/ 414033 w 992187"/>
              <a:gd name="connsiteY23" fmla="*/ 0 h 227926"/>
              <a:gd name="connsiteX24" fmla="*/ 414033 w 992187"/>
              <a:gd name="connsiteY24" fmla="*/ 227927 h 227926"/>
              <a:gd name="connsiteX25" fmla="*/ 710386 w 992187"/>
              <a:gd name="connsiteY25" fmla="*/ 0 h 227926"/>
              <a:gd name="connsiteX26" fmla="*/ 666774 w 992187"/>
              <a:gd name="connsiteY26" fmla="*/ 116954 h 227926"/>
              <a:gd name="connsiteX27" fmla="*/ 653884 w 992187"/>
              <a:gd name="connsiteY27" fmla="*/ 152273 h 227926"/>
              <a:gd name="connsiteX28" fmla="*/ 643965 w 992187"/>
              <a:gd name="connsiteY28" fmla="*/ 181115 h 227926"/>
              <a:gd name="connsiteX29" fmla="*/ 641501 w 992187"/>
              <a:gd name="connsiteY29" fmla="*/ 188366 h 227926"/>
              <a:gd name="connsiteX30" fmla="*/ 625448 w 992187"/>
              <a:gd name="connsiteY30" fmla="*/ 188366 h 227926"/>
              <a:gd name="connsiteX31" fmla="*/ 622985 w 992187"/>
              <a:gd name="connsiteY31" fmla="*/ 181115 h 227926"/>
              <a:gd name="connsiteX32" fmla="*/ 613066 w 992187"/>
              <a:gd name="connsiteY32" fmla="*/ 152273 h 227926"/>
              <a:gd name="connsiteX33" fmla="*/ 600163 w 992187"/>
              <a:gd name="connsiteY33" fmla="*/ 116903 h 227926"/>
              <a:gd name="connsiteX34" fmla="*/ 556564 w 992187"/>
              <a:gd name="connsiteY34" fmla="*/ 0 h 227926"/>
              <a:gd name="connsiteX35" fmla="*/ 530998 w 992187"/>
              <a:gd name="connsiteY35" fmla="*/ 0 h 227926"/>
              <a:gd name="connsiteX36" fmla="*/ 620089 w 992187"/>
              <a:gd name="connsiteY36" fmla="*/ 227927 h 227926"/>
              <a:gd name="connsiteX37" fmla="*/ 646492 w 992187"/>
              <a:gd name="connsiteY37" fmla="*/ 227927 h 227926"/>
              <a:gd name="connsiteX38" fmla="*/ 735570 w 992187"/>
              <a:gd name="connsiteY38" fmla="*/ 0 h 227926"/>
              <a:gd name="connsiteX39" fmla="*/ 710386 w 992187"/>
              <a:gd name="connsiteY39" fmla="*/ 0 h 227926"/>
              <a:gd name="connsiteX40" fmla="*/ 880246 w 992187"/>
              <a:gd name="connsiteY40" fmla="*/ 38633 h 227926"/>
              <a:gd name="connsiteX41" fmla="*/ 896337 w 992187"/>
              <a:gd name="connsiteY41" fmla="*/ 38633 h 227926"/>
              <a:gd name="connsiteX42" fmla="*/ 898801 w 992187"/>
              <a:gd name="connsiteY42" fmla="*/ 45885 h 227926"/>
              <a:gd name="connsiteX43" fmla="*/ 967041 w 992187"/>
              <a:gd name="connsiteY43" fmla="*/ 227927 h 227926"/>
              <a:gd name="connsiteX44" fmla="*/ 992188 w 992187"/>
              <a:gd name="connsiteY44" fmla="*/ 227927 h 227926"/>
              <a:gd name="connsiteX45" fmla="*/ 901738 w 992187"/>
              <a:gd name="connsiteY45" fmla="*/ 0 h 227926"/>
              <a:gd name="connsiteX46" fmla="*/ 874506 w 992187"/>
              <a:gd name="connsiteY46" fmla="*/ 0 h 227926"/>
              <a:gd name="connsiteX47" fmla="*/ 784056 w 992187"/>
              <a:gd name="connsiteY47" fmla="*/ 227927 h 227926"/>
              <a:gd name="connsiteX48" fmla="*/ 809583 w 992187"/>
              <a:gd name="connsiteY48" fmla="*/ 227927 h 227926"/>
              <a:gd name="connsiteX49" fmla="*/ 877807 w 992187"/>
              <a:gd name="connsiteY49" fmla="*/ 45923 h 227926"/>
              <a:gd name="connsiteX50" fmla="*/ 880246 w 992187"/>
              <a:gd name="connsiteY50" fmla="*/ 38633 h 22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992187" h="227926" fill="norm" stroke="1" extrusionOk="0">
                <a:moveTo>
                  <a:pt x="0" y="0"/>
                </a:moveTo>
                <a:lnTo>
                  <a:pt x="24282" y="0"/>
                </a:lnTo>
                <a:lnTo>
                  <a:pt x="24282" y="227927"/>
                </a:lnTo>
                <a:lnTo>
                  <a:pt x="0" y="227927"/>
                </a:lnTo>
                <a:lnTo>
                  <a:pt x="0" y="0"/>
                </a:lnTo>
                <a:close/>
                <a:moveTo>
                  <a:pt x="296349" y="0"/>
                </a:moveTo>
                <a:lnTo>
                  <a:pt x="252738" y="116954"/>
                </a:lnTo>
                <a:cubicBezTo>
                  <a:pt x="246184" y="134734"/>
                  <a:pt x="241892" y="146533"/>
                  <a:pt x="239847" y="152286"/>
                </a:cubicBezTo>
                <a:cubicBezTo>
                  <a:pt x="237802" y="158026"/>
                  <a:pt x="234500" y="167653"/>
                  <a:pt x="229928" y="181115"/>
                </a:cubicBezTo>
                <a:lnTo>
                  <a:pt x="227465" y="188366"/>
                </a:lnTo>
                <a:lnTo>
                  <a:pt x="211399" y="188366"/>
                </a:lnTo>
                <a:lnTo>
                  <a:pt x="208948" y="181102"/>
                </a:lnTo>
                <a:cubicBezTo>
                  <a:pt x="204376" y="167653"/>
                  <a:pt x="201061" y="158026"/>
                  <a:pt x="199029" y="152273"/>
                </a:cubicBezTo>
                <a:cubicBezTo>
                  <a:pt x="196985" y="146520"/>
                  <a:pt x="192679" y="134734"/>
                  <a:pt x="186113" y="116903"/>
                </a:cubicBezTo>
                <a:lnTo>
                  <a:pt x="142514" y="0"/>
                </a:lnTo>
                <a:lnTo>
                  <a:pt x="116962" y="0"/>
                </a:lnTo>
                <a:lnTo>
                  <a:pt x="206052" y="227927"/>
                </a:lnTo>
                <a:lnTo>
                  <a:pt x="232456" y="227927"/>
                </a:lnTo>
                <a:lnTo>
                  <a:pt x="321534" y="0"/>
                </a:lnTo>
                <a:lnTo>
                  <a:pt x="296349" y="0"/>
                </a:lnTo>
                <a:close/>
                <a:moveTo>
                  <a:pt x="414033" y="227927"/>
                </a:moveTo>
                <a:lnTo>
                  <a:pt x="438315" y="227927"/>
                </a:lnTo>
                <a:lnTo>
                  <a:pt x="438315" y="0"/>
                </a:lnTo>
                <a:lnTo>
                  <a:pt x="414033" y="0"/>
                </a:lnTo>
                <a:lnTo>
                  <a:pt x="414033" y="227927"/>
                </a:lnTo>
                <a:close/>
                <a:moveTo>
                  <a:pt x="710386" y="0"/>
                </a:moveTo>
                <a:lnTo>
                  <a:pt x="666774" y="116954"/>
                </a:lnTo>
                <a:cubicBezTo>
                  <a:pt x="660221" y="134734"/>
                  <a:pt x="655916" y="146520"/>
                  <a:pt x="653884" y="152273"/>
                </a:cubicBezTo>
                <a:cubicBezTo>
                  <a:pt x="651839" y="158026"/>
                  <a:pt x="648537" y="167653"/>
                  <a:pt x="643965" y="181115"/>
                </a:cubicBezTo>
                <a:lnTo>
                  <a:pt x="641501" y="188366"/>
                </a:lnTo>
                <a:lnTo>
                  <a:pt x="625448" y="188366"/>
                </a:lnTo>
                <a:lnTo>
                  <a:pt x="622985" y="181115"/>
                </a:lnTo>
                <a:cubicBezTo>
                  <a:pt x="618413" y="167653"/>
                  <a:pt x="615111" y="158026"/>
                  <a:pt x="613066" y="152273"/>
                </a:cubicBezTo>
                <a:cubicBezTo>
                  <a:pt x="611021" y="146533"/>
                  <a:pt x="606716" y="134734"/>
                  <a:pt x="600163" y="116903"/>
                </a:cubicBezTo>
                <a:lnTo>
                  <a:pt x="556564" y="0"/>
                </a:lnTo>
                <a:lnTo>
                  <a:pt x="530998" y="0"/>
                </a:lnTo>
                <a:lnTo>
                  <a:pt x="620089" y="227927"/>
                </a:lnTo>
                <a:lnTo>
                  <a:pt x="646492" y="227927"/>
                </a:lnTo>
                <a:lnTo>
                  <a:pt x="735570" y="0"/>
                </a:lnTo>
                <a:lnTo>
                  <a:pt x="710386" y="0"/>
                </a:lnTo>
                <a:close/>
                <a:moveTo>
                  <a:pt x="880246" y="38633"/>
                </a:moveTo>
                <a:lnTo>
                  <a:pt x="896337" y="38633"/>
                </a:lnTo>
                <a:lnTo>
                  <a:pt x="898801" y="45885"/>
                </a:lnTo>
                <a:cubicBezTo>
                  <a:pt x="906132" y="67501"/>
                  <a:pt x="951725" y="187668"/>
                  <a:pt x="967041" y="227927"/>
                </a:cubicBezTo>
                <a:lnTo>
                  <a:pt x="992188" y="227927"/>
                </a:lnTo>
                <a:lnTo>
                  <a:pt x="901738" y="0"/>
                </a:lnTo>
                <a:lnTo>
                  <a:pt x="874506" y="0"/>
                </a:lnTo>
                <a:lnTo>
                  <a:pt x="784056" y="227927"/>
                </a:lnTo>
                <a:lnTo>
                  <a:pt x="809583" y="227927"/>
                </a:lnTo>
                <a:cubicBezTo>
                  <a:pt x="821585" y="196431"/>
                  <a:pt x="870353" y="68225"/>
                  <a:pt x="877807" y="45923"/>
                </a:cubicBezTo>
                <a:lnTo>
                  <a:pt x="880246" y="38633"/>
                </a:lnTo>
                <a:close/>
              </a:path>
            </a:pathLst>
          </a:custGeom>
          <a:solidFill>
            <a:srgbClr val="96337B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1"/>
  <p:txStyles>
    <p:titleStyle>
      <a:lvl1pPr marL="0" indent="0" algn="l" defTabSz="914400" rtl="0">
        <a:lnSpc>
          <a:spcPct val="90000"/>
        </a:lnSpc>
        <a:spcBef>
          <a:spcPts val="0"/>
        </a:spcBef>
        <a:spcAft>
          <a:spcPts val="0"/>
        </a:spcAft>
        <a:buFont typeface="Arial"/>
        <a:buNone/>
        <a:defRPr sz="2200" cap="all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>
        <a:lnSpc>
          <a:spcPct val="100000"/>
        </a:lnSpc>
        <a:spcBef>
          <a:spcPts val="0"/>
        </a:spcBef>
        <a:spcAft>
          <a:spcPts val="600"/>
        </a:spcAft>
        <a:buFont typeface="Arial"/>
        <a:buNone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493504" name="Title 1"/>
          <p:cNvSpPr>
            <a:spLocks noGrp="1"/>
          </p:cNvSpPr>
          <p:nvPr>
            <p:ph type="ctrTitle"/>
          </p:nvPr>
        </p:nvSpPr>
        <p:spPr bwMode="auto">
          <a:xfrm>
            <a:off x="2923827" y="1641134"/>
            <a:ext cx="6572713" cy="1846659"/>
          </a:xfrm>
        </p:spPr>
        <p:txBody>
          <a:bodyPr/>
          <a:lstStyle/>
          <a:p>
            <a:pPr>
              <a:defRPr/>
            </a:pPr>
            <a:r>
              <a:rPr lang="en-US">
                <a:latin typeface="Arial"/>
              </a:rPr>
              <a:t>Meeting Progress</a:t>
            </a:r>
            <a:br>
              <a:rPr lang="en-US" sz="2000">
                <a:latin typeface="Arial"/>
              </a:rPr>
            </a:br>
            <a:r>
              <a:rPr lang="en-US" sz="2000">
                <a:latin typeface="Arial"/>
              </a:rPr>
              <a:t>Guiding KO Differentiation</a:t>
            </a:r>
            <a:br>
              <a:rPr lang="en-US" sz="1400">
                <a:latin typeface="Arial"/>
              </a:rPr>
            </a:br>
            <a:r>
              <a:rPr lang="en-US" sz="1400">
                <a:latin typeface="Arial"/>
              </a:rPr>
              <a:t>Qing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053526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4079" cy="302112"/>
          </a:xfrm>
        </p:spPr>
        <p:txBody>
          <a:bodyPr/>
          <a:lstStyle/>
          <a:p>
            <a:pPr>
              <a:defRPr/>
            </a:pPr>
            <a:r>
              <a:rPr lang="en-US"/>
              <a:t>Guiding the auto-pilot</a:t>
            </a:r>
            <a:endParaRPr lang="en-US"/>
          </a:p>
        </p:txBody>
      </p:sp>
      <p:sp>
        <p:nvSpPr>
          <p:cNvPr id="7946450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6A256A-13C0-3614-8599-8280D3FA1F20}" type="slidenum">
              <a:rPr lang="uk-UA"/>
              <a:t>2</a:t>
            </a:fld>
            <a:endParaRPr lang="uk-UA"/>
          </a:p>
        </p:txBody>
      </p:sp>
      <p:sp>
        <p:nvSpPr>
          <p:cNvPr id="1812040799" name="subtitle"/>
          <p:cNvSpPr txBox="1"/>
          <p:nvPr/>
        </p:nvSpPr>
        <p:spPr bwMode="auto">
          <a:xfrm>
            <a:off x="372000" y="760000"/>
            <a:ext cx="1050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350" i="1">
                <a:solidFill>
                  <a:srgbClr val="595959"/>
                </a:solidFill>
                <a:latin typeface="Arial"/>
              </a:rPr>
              <a:t>A minimal, targeted way to make kidney-organoid differentiation more consistent</a:t>
            </a:r>
            <a:endParaRPr/>
          </a:p>
        </p:txBody>
      </p:sp>
      <p:sp>
        <p:nvSpPr>
          <p:cNvPr id="1479162659" name="lbl1"/>
          <p:cNvSpPr txBox="1"/>
          <p:nvPr/>
        </p:nvSpPr>
        <p:spPr bwMode="auto">
          <a:xfrm>
            <a:off x="360000" y="1180000"/>
            <a:ext cx="176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WHERE WE ARE</a:t>
            </a:r>
            <a:endParaRPr/>
          </a:p>
        </p:txBody>
      </p:sp>
      <p:sp>
        <p:nvSpPr>
          <p:cNvPr id="960578820" name="stage1"/>
          <p:cNvSpPr/>
          <p:nvPr/>
        </p:nvSpPr>
        <p:spPr bwMode="auto">
          <a:xfrm>
            <a:off x="2230000" y="1120000"/>
            <a:ext cx="4150000" cy="900000"/>
          </a:xfrm>
          <a:prstGeom prst="roundRect">
            <a:avLst>
              <a:gd name="adj" fmla="val 10000"/>
            </a:avLst>
          </a:prstGeom>
          <a:solidFill>
            <a:srgbClr val="0A8C99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Stage 1 · Mesoderm induction</a:t>
            </a:r>
            <a:endParaRPr/>
          </a:p>
          <a:p>
            <a:pPr algn="ctr">
              <a:defRPr/>
            </a:pPr>
            <a:r>
              <a:rPr lang="en-US" sz="1200">
                <a:solidFill>
                  <a:srgbClr val="FFFFFF"/>
                </a:solidFill>
                <a:latin typeface="Arial"/>
              </a:rPr>
              <a:t>8 µM CHIR · 4 days</a:t>
            </a:r>
            <a:endParaRPr/>
          </a:p>
        </p:txBody>
      </p:sp>
      <p:sp>
        <p:nvSpPr>
          <p:cNvPr id="151085355" name="arrow1"/>
          <p:cNvSpPr/>
          <p:nvPr/>
        </p:nvSpPr>
        <p:spPr bwMode="auto">
          <a:xfrm>
            <a:off x="6470000" y="1430000"/>
            <a:ext cx="520000" cy="2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9653466" name="stage2"/>
          <p:cNvSpPr/>
          <p:nvPr/>
        </p:nvSpPr>
        <p:spPr bwMode="auto">
          <a:xfrm>
            <a:off x="7000000" y="1120000"/>
            <a:ext cx="4150000" cy="900000"/>
          </a:xfrm>
          <a:prstGeom prst="roundRect">
            <a:avLst>
              <a:gd name="adj" fmla="val 10000"/>
            </a:avLst>
          </a:prstGeom>
          <a:solidFill>
            <a:srgbClr val="70D9E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400" b="1">
                <a:solidFill>
                  <a:srgbClr val="0E4A52"/>
                </a:solidFill>
                <a:latin typeface="Arial"/>
              </a:rPr>
              <a:t>Stage 2 · Nephron specification</a:t>
            </a:r>
            <a:endParaRPr/>
          </a:p>
          <a:p>
            <a:pPr algn="ctr">
              <a:defRPr/>
            </a:pPr>
            <a:r>
              <a:rPr lang="en-US" sz="1200">
                <a:solidFill>
                  <a:srgbClr val="0E4A52"/>
                </a:solidFill>
                <a:latin typeface="Arial"/>
              </a:rPr>
              <a:t>5% KOSR · 12 days</a:t>
            </a:r>
            <a:endParaRPr/>
          </a:p>
        </p:txBody>
      </p:sp>
      <p:sp>
        <p:nvSpPr>
          <p:cNvPr id="1933541623" name="cap1"/>
          <p:cNvSpPr txBox="1"/>
          <p:nvPr/>
        </p:nvSpPr>
        <p:spPr bwMode="auto">
          <a:xfrm>
            <a:off x="2230000" y="2070000"/>
            <a:ext cx="8920000" cy="3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>
                <a:solidFill>
                  <a:srgbClr val="595959"/>
                </a:solidFill>
                <a:latin typeface="Arial"/>
              </a:rPr>
              <a:t>Only CHIR + KOSR — no other cues are added. The cells differentiate on their own (“auto-pilot”).</a:t>
            </a:r>
            <a:endParaRPr/>
          </a:p>
        </p:txBody>
      </p:sp>
      <p:sp>
        <p:nvSpPr>
          <p:cNvPr id="750752017" name="lbl2"/>
          <p:cNvSpPr txBox="1"/>
          <p:nvPr/>
        </p:nvSpPr>
        <p:spPr bwMode="auto">
          <a:xfrm>
            <a:off x="360000" y="2760000"/>
            <a:ext cx="176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THE PROBLEM</a:t>
            </a:r>
            <a:endParaRPr/>
          </a:p>
        </p:txBody>
      </p:sp>
      <p:sp>
        <p:nvSpPr>
          <p:cNvPr id="866427435" name="problemcard"/>
          <p:cNvSpPr/>
          <p:nvPr/>
        </p:nvSpPr>
        <p:spPr bwMode="auto">
          <a:xfrm>
            <a:off x="2230000" y="2660000"/>
            <a:ext cx="8920000" cy="820000"/>
          </a:xfrm>
          <a:prstGeom prst="roundRect">
            <a:avLst>
              <a:gd name="adj" fmla="val 6000"/>
            </a:avLst>
          </a:prstGeom>
          <a:solidFill>
            <a:srgbClr val="F4EEF2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Differentiation fails unpredictably — sometimes </a:t>
            </a:r>
            <a:r>
              <a:rPr lang="en-US" sz="1250" b="1">
                <a:solidFill>
                  <a:srgbClr val="96337A"/>
                </a:solidFill>
                <a:latin typeface="Arial"/>
              </a:rPr>
              <a:t>early</a:t>
            </a:r>
            <a:r>
              <a:rPr lang="en-US" sz="1250">
                <a:solidFill>
                  <a:srgbClr val="262626"/>
                </a:solidFill>
                <a:latin typeface="Arial"/>
              </a:rPr>
              <a:t> (pluripotency exit, iPSC stage), sometimes </a:t>
            </a:r>
            <a:r>
              <a:rPr lang="en-US" sz="1250" b="1">
                <a:solidFill>
                  <a:srgbClr val="96337A"/>
                </a:solidFill>
                <a:latin typeface="Arial"/>
              </a:rPr>
              <a:t>later</a:t>
            </a:r>
            <a:r>
              <a:rPr lang="en-US" sz="1250">
                <a:solidFill>
                  <a:srgbClr val="262626"/>
                </a:solidFill>
                <a:latin typeface="Arial"/>
              </a:rPr>
              <a:t> (kidney-lineage specification).</a:t>
            </a:r>
            <a:endParaRPr/>
          </a:p>
        </p:txBody>
      </p:sp>
      <p:sp>
        <p:nvSpPr>
          <p:cNvPr id="2033925512" name="lbl3"/>
          <p:cNvSpPr txBox="1"/>
          <p:nvPr/>
        </p:nvSpPr>
        <p:spPr bwMode="auto">
          <a:xfrm>
            <a:off x="360000" y="3820000"/>
            <a:ext cx="1760000" cy="7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OUR APPROACH</a:t>
            </a:r>
            <a:endParaRPr/>
          </a:p>
        </p:txBody>
      </p:sp>
      <p:sp>
        <p:nvSpPr>
          <p:cNvPr id="964835520" name="goalcard"/>
          <p:cNvSpPr/>
          <p:nvPr/>
        </p:nvSpPr>
        <p:spPr bwMode="auto">
          <a:xfrm>
            <a:off x="2230000" y="3720000"/>
            <a:ext cx="4350000" cy="16200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 w="19050">
            <a:solidFill>
              <a:srgbClr val="96337A"/>
            </a:solidFill>
          </a:ln>
        </p:spPr>
        <p:txBody>
          <a:bodyPr wrap="square" lIns="182880" tIns="137160" rIns="182880" bIns="137160" anchor="t"/>
          <a:lstStyle/>
          <a:p>
            <a:pPr>
              <a:defRPr/>
            </a:pPr>
            <a:r>
              <a:rPr lang="en-US" sz="1500" b="1">
                <a:solidFill>
                  <a:srgbClr val="96337A"/>
                </a:solidFill>
                <a:latin typeface="Arial"/>
              </a:rPr>
              <a:t>Goal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Improve differentiation consistency without redesigning the protocol — make minimal, surgical changes only.</a:t>
            </a:r>
            <a:endParaRPr/>
          </a:p>
        </p:txBody>
      </p:sp>
      <p:sp>
        <p:nvSpPr>
          <p:cNvPr id="1212027240" name="princard"/>
          <p:cNvSpPr/>
          <p:nvPr/>
        </p:nvSpPr>
        <p:spPr bwMode="auto">
          <a:xfrm>
            <a:off x="6800000" y="3720000"/>
            <a:ext cx="4350000" cy="1620000"/>
          </a:xfrm>
          <a:prstGeom prst="roundRect">
            <a:avLst>
              <a:gd name="adj" fmla="val 6000"/>
            </a:avLst>
          </a:prstGeom>
          <a:solidFill>
            <a:srgbClr val="F4F6F7"/>
          </a:solidFill>
          <a:ln w="19050">
            <a:solidFill>
              <a:srgbClr val="0A8C99"/>
            </a:solidFill>
          </a:ln>
        </p:spPr>
        <p:txBody>
          <a:bodyPr wrap="square" lIns="182880" tIns="137160" rIns="182880" bIns="137160" anchor="t"/>
          <a:lstStyle/>
          <a:p>
            <a:pPr>
              <a:defRPr/>
            </a:pPr>
            <a:r>
              <a:rPr lang="en-US" sz="1500" b="1">
                <a:solidFill>
                  <a:srgbClr val="0A8C99"/>
                </a:solidFill>
                <a:latin typeface="Arial"/>
              </a:rPr>
              <a:t>Principle</a:t>
            </a:r>
            <a:endParaRPr/>
          </a:p>
          <a:p>
            <a:pPr>
              <a:spcBef>
                <a:spcPts val="600"/>
              </a:spcBef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Add targeted cues at the critical decision windows to steer the auto-pilot — staying aligned with the current differentiation schematic.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402853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4079" cy="302112"/>
          </a:xfrm>
        </p:spPr>
        <p:txBody>
          <a:bodyPr/>
          <a:lstStyle/>
          <a:p>
            <a:pPr>
              <a:defRPr/>
            </a:pPr>
            <a:r>
              <a:rPr lang="en-US"/>
              <a:t>Microdissection: a rapid test-and-readout loop</a:t>
            </a:r>
            <a:endParaRPr lang="en-US"/>
          </a:p>
        </p:txBody>
      </p:sp>
      <p:sp>
        <p:nvSpPr>
          <p:cNvPr id="11691887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96A256A-13C0-3614-8599-8280D3FA1F21}" type="slidenum">
              <a:rPr lang="uk-UA"/>
              <a:t>3</a:t>
            </a:fld>
            <a:endParaRPr lang="uk-UA"/>
          </a:p>
        </p:txBody>
      </p:sp>
      <p:sp>
        <p:nvSpPr>
          <p:cNvPr id="999427407" name="subtitle"/>
          <p:cNvSpPr txBox="1"/>
          <p:nvPr/>
        </p:nvSpPr>
        <p:spPr bwMode="auto">
          <a:xfrm>
            <a:off x="372000" y="760000"/>
            <a:ext cx="1050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350" i="1">
                <a:solidFill>
                  <a:srgbClr val="595959"/>
                </a:solidFill>
                <a:latin typeface="Arial"/>
              </a:rPr>
              <a:t>Test a change in a minimal window; keep only what moves the phenotype fast.</a:t>
            </a:r>
            <a:endParaRPr/>
          </a:p>
        </p:txBody>
      </p:sp>
      <p:sp>
        <p:nvSpPr>
          <p:cNvPr id="724206938" name="sh1"/>
          <p:cNvSpPr txBox="1"/>
          <p:nvPr/>
        </p:nvSpPr>
        <p:spPr bwMode="auto">
          <a:xfrm>
            <a:off x="360000" y="117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STEP 1 — DEFINE THE CRITICAL EVENT WINDOWS</a:t>
            </a:r>
            <a:endParaRPr/>
          </a:p>
        </p:txBody>
      </p:sp>
      <p:sp>
        <p:nvSpPr>
          <p:cNvPr id="710016191" name="wlbl1"/>
          <p:cNvSpPr txBox="1"/>
          <p:nvPr/>
        </p:nvSpPr>
        <p:spPr bwMode="auto">
          <a:xfrm>
            <a:off x="440000" y="1540000"/>
            <a:ext cx="2200000" cy="33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1150" b="1">
                <a:solidFill>
                  <a:srgbClr val="96337A"/>
                </a:solidFill>
                <a:latin typeface="Arial"/>
              </a:rPr>
              <a:t>Pluripotency exit · D0–D2</a:t>
            </a:r>
            <a:endParaRPr/>
          </a:p>
        </p:txBody>
      </p:sp>
      <p:sp>
        <p:nvSpPr>
          <p:cNvPr id="1267522802" name="wlbl2"/>
          <p:cNvSpPr txBox="1"/>
          <p:nvPr/>
        </p:nvSpPr>
        <p:spPr bwMode="auto">
          <a:xfrm>
            <a:off x="5466000" y="1540000"/>
            <a:ext cx="2400000" cy="33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1150" b="1">
                <a:solidFill>
                  <a:srgbClr val="96337A"/>
                </a:solidFill>
                <a:latin typeface="Arial"/>
              </a:rPr>
              <a:t>Tubular formation · D8–D10</a:t>
            </a:r>
            <a:endParaRPr/>
          </a:p>
        </p:txBody>
      </p:sp>
      <p:sp>
        <p:nvSpPr>
          <p:cNvPr id="546357164" name="seg1"/>
          <p:cNvSpPr/>
          <p:nvPr/>
        </p:nvSpPr>
        <p:spPr bwMode="auto">
          <a:xfrm>
            <a:off x="900000" y="1920000"/>
            <a:ext cx="2562500" cy="360000"/>
          </a:xfrm>
          <a:prstGeom prst="rect">
            <a:avLst/>
          </a:prstGeom>
          <a:solidFill>
            <a:srgbClr val="0A8C99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>
              <a:defRPr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Stage 1 · CHIR · 4 d</a:t>
            </a:r>
            <a:endParaRPr/>
          </a:p>
        </p:txBody>
      </p:sp>
      <p:sp>
        <p:nvSpPr>
          <p:cNvPr id="53210973" name="seg2"/>
          <p:cNvSpPr/>
          <p:nvPr/>
        </p:nvSpPr>
        <p:spPr bwMode="auto">
          <a:xfrm>
            <a:off x="3462500" y="1920000"/>
            <a:ext cx="7687500" cy="360000"/>
          </a:xfrm>
          <a:prstGeom prst="rect">
            <a:avLst/>
          </a:prstGeom>
          <a:solidFill>
            <a:srgbClr val="70D9E3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>
              <a:defRPr/>
            </a:pPr>
            <a:r>
              <a:rPr lang="en-US" sz="1050" b="1">
                <a:solidFill>
                  <a:srgbClr val="0E4A52"/>
                </a:solidFill>
                <a:latin typeface="Arial"/>
              </a:rPr>
              <a:t>Stage 2 · KOSR · 12 d</a:t>
            </a:r>
            <a:endParaRPr/>
          </a:p>
        </p:txBody>
      </p:sp>
      <p:sp>
        <p:nvSpPr>
          <p:cNvPr id="1642448351" name="win1"/>
          <p:cNvSpPr/>
          <p:nvPr/>
        </p:nvSpPr>
        <p:spPr bwMode="auto">
          <a:xfrm>
            <a:off x="900000" y="1880000"/>
            <a:ext cx="1281250" cy="440000"/>
          </a:xfrm>
          <a:prstGeom prst="rect">
            <a:avLst/>
          </a:prstGeom>
          <a:solidFill>
            <a:srgbClr val="96337A">
              <a:alpha val="35000"/>
            </a:srgbClr>
          </a:solidFill>
          <a:ln w="22225">
            <a:solidFill>
              <a:srgbClr val="96337A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7308500" name="win2"/>
          <p:cNvSpPr/>
          <p:nvPr/>
        </p:nvSpPr>
        <p:spPr bwMode="auto">
          <a:xfrm>
            <a:off x="6025000" y="1880000"/>
            <a:ext cx="1281250" cy="440000"/>
          </a:xfrm>
          <a:prstGeom prst="rect">
            <a:avLst/>
          </a:prstGeom>
          <a:solidFill>
            <a:srgbClr val="96337A">
              <a:alpha val="35000"/>
            </a:srgbClr>
          </a:solidFill>
          <a:ln w="22225">
            <a:solidFill>
              <a:srgbClr val="96337A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1443823" name="d0"/>
          <p:cNvSpPr txBox="1"/>
          <p:nvPr/>
        </p:nvSpPr>
        <p:spPr bwMode="auto">
          <a:xfrm>
            <a:off x="6500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D0</a:t>
            </a:r>
            <a:endParaRPr/>
          </a:p>
        </p:txBody>
      </p:sp>
      <p:sp>
        <p:nvSpPr>
          <p:cNvPr id="2119625514" name="d2"/>
          <p:cNvSpPr txBox="1"/>
          <p:nvPr/>
        </p:nvSpPr>
        <p:spPr bwMode="auto">
          <a:xfrm>
            <a:off x="193125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D2</a:t>
            </a:r>
            <a:endParaRPr/>
          </a:p>
        </p:txBody>
      </p:sp>
      <p:sp>
        <p:nvSpPr>
          <p:cNvPr id="965371304" name="d4"/>
          <p:cNvSpPr txBox="1"/>
          <p:nvPr/>
        </p:nvSpPr>
        <p:spPr bwMode="auto">
          <a:xfrm>
            <a:off x="32125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D4</a:t>
            </a:r>
            <a:endParaRPr/>
          </a:p>
        </p:txBody>
      </p:sp>
      <p:sp>
        <p:nvSpPr>
          <p:cNvPr id="554980603" name="d8"/>
          <p:cNvSpPr txBox="1"/>
          <p:nvPr/>
        </p:nvSpPr>
        <p:spPr bwMode="auto">
          <a:xfrm>
            <a:off x="57750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D8</a:t>
            </a:r>
            <a:endParaRPr/>
          </a:p>
        </p:txBody>
      </p:sp>
      <p:sp>
        <p:nvSpPr>
          <p:cNvPr id="852578006" name="d10"/>
          <p:cNvSpPr txBox="1"/>
          <p:nvPr/>
        </p:nvSpPr>
        <p:spPr bwMode="auto">
          <a:xfrm>
            <a:off x="705625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D10</a:t>
            </a:r>
            <a:endParaRPr/>
          </a:p>
        </p:txBody>
      </p:sp>
      <p:sp>
        <p:nvSpPr>
          <p:cNvPr id="875193786" name="d16"/>
          <p:cNvSpPr txBox="1"/>
          <p:nvPr/>
        </p:nvSpPr>
        <p:spPr bwMode="auto">
          <a:xfrm>
            <a:off x="10900000" y="2350000"/>
            <a:ext cx="5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defRPr/>
            </a:pPr>
            <a:r>
              <a:rPr lang="en-US" sz="1000">
                <a:solidFill>
                  <a:srgbClr val="808080"/>
                </a:solidFill>
                <a:latin typeface="Arial"/>
              </a:rPr>
              <a:t>D16</a:t>
            </a:r>
            <a:endParaRPr/>
          </a:p>
        </p:txBody>
      </p:sp>
      <p:sp>
        <p:nvSpPr>
          <p:cNvPr id="48416458" name="sh2"/>
          <p:cNvSpPr txBox="1"/>
          <p:nvPr/>
        </p:nvSpPr>
        <p:spPr bwMode="auto">
          <a:xfrm>
            <a:off x="360000" y="2880000"/>
            <a:ext cx="90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100" b="1" spc="120">
                <a:solidFill>
                  <a:srgbClr val="96337A"/>
                </a:solidFill>
                <a:latin typeface="Arial"/>
              </a:rPr>
              <a:t>STEP 2 — TEST ONE CHANGE PER WINDOW, READ OUT FAST</a:t>
            </a:r>
            <a:endParaRPr/>
          </a:p>
        </p:txBody>
      </p:sp>
      <p:sp>
        <p:nvSpPr>
          <p:cNvPr id="1719604794" name="st1"/>
          <p:cNvSpPr/>
          <p:nvPr/>
        </p:nvSpPr>
        <p:spPr bwMode="auto">
          <a:xfrm>
            <a:off x="900000" y="3260000"/>
            <a:ext cx="3050000" cy="900000"/>
          </a:xfrm>
          <a:prstGeom prst="roundRect">
            <a:avLst>
              <a:gd name="adj" fmla="val 8000"/>
            </a:avLst>
          </a:prstGeom>
          <a:solidFill>
            <a:srgbClr val="EAF6F7"/>
          </a:solidFill>
          <a:ln w="19050">
            <a:solidFill>
              <a:srgbClr val="0A8C99"/>
            </a:solidFill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200" b="1">
                <a:solidFill>
                  <a:srgbClr val="0A8C99"/>
                </a:solidFill>
                <a:latin typeface="Arial"/>
              </a:rPr>
              <a:t>Add ONE cue</a:t>
            </a:r>
            <a:endParaRPr/>
          </a:p>
          <a:p>
            <a:pPr algn="ctr">
              <a:defRPr/>
            </a:pPr>
            <a:r>
              <a:rPr lang="en-US" sz="1100">
                <a:solidFill>
                  <a:srgbClr val="262626"/>
                </a:solidFill>
                <a:latin typeface="Arial"/>
              </a:rPr>
              <a:t>in a chosen window</a:t>
            </a:r>
            <a:endParaRPr/>
          </a:p>
        </p:txBody>
      </p:sp>
      <p:sp>
        <p:nvSpPr>
          <p:cNvPr id="1553273166" name="ar1"/>
          <p:cNvSpPr/>
          <p:nvPr/>
        </p:nvSpPr>
        <p:spPr bwMode="auto">
          <a:xfrm>
            <a:off x="4000000" y="3560000"/>
            <a:ext cx="4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17165" name="st2"/>
          <p:cNvSpPr/>
          <p:nvPr/>
        </p:nvSpPr>
        <p:spPr bwMode="auto">
          <a:xfrm>
            <a:off x="4530000" y="3260000"/>
            <a:ext cx="3050000" cy="900000"/>
          </a:xfrm>
          <a:prstGeom prst="roundRect">
            <a:avLst>
              <a:gd name="adj" fmla="val 8000"/>
            </a:avLst>
          </a:prstGeom>
          <a:solidFill>
            <a:srgbClr val="EAF6F7"/>
          </a:solidFill>
          <a:ln w="19050">
            <a:solidFill>
              <a:srgbClr val="0A8C99"/>
            </a:solidFill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200" b="1">
                <a:solidFill>
                  <a:srgbClr val="0A8C99"/>
                </a:solidFill>
                <a:latin typeface="Arial"/>
              </a:rPr>
              <a:t>Read out in 2 days</a:t>
            </a:r>
            <a:endParaRPr/>
          </a:p>
          <a:p>
            <a:pPr algn="ctr">
              <a:defRPr/>
            </a:pPr>
            <a:r>
              <a:rPr lang="en-US" sz="1100">
                <a:solidFill>
                  <a:srgbClr val="262626"/>
                </a:solidFill>
                <a:latin typeface="Arial"/>
              </a:rPr>
              <a:t>targeted phenotype only</a:t>
            </a:r>
            <a:endParaRPr/>
          </a:p>
        </p:txBody>
      </p:sp>
      <p:sp>
        <p:nvSpPr>
          <p:cNvPr id="1273867301" name="ar2"/>
          <p:cNvSpPr/>
          <p:nvPr/>
        </p:nvSpPr>
        <p:spPr bwMode="auto">
          <a:xfrm>
            <a:off x="7630000" y="3560000"/>
            <a:ext cx="480000" cy="3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6618008" name="st3"/>
          <p:cNvSpPr/>
          <p:nvPr/>
        </p:nvSpPr>
        <p:spPr bwMode="auto">
          <a:xfrm>
            <a:off x="8160000" y="3260000"/>
            <a:ext cx="2990000" cy="900000"/>
          </a:xfrm>
          <a:prstGeom prst="roundRect">
            <a:avLst>
              <a:gd name="adj" fmla="val 8000"/>
            </a:avLst>
          </a:prstGeom>
          <a:solidFill>
            <a:srgbClr val="96337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Phenotype moved?</a:t>
            </a:r>
            <a:endParaRPr/>
          </a:p>
          <a:p>
            <a:pPr algn="ctr">
              <a:defRPr/>
            </a:pPr>
            <a:r>
              <a:rPr lang="en-US" sz="1100">
                <a:solidFill>
                  <a:srgbClr val="FFFFFF"/>
                </a:solidFill>
                <a:latin typeface="Arial"/>
              </a:rPr>
              <a:t>decision point</a:t>
            </a:r>
            <a:endParaRPr/>
          </a:p>
        </p:txBody>
      </p:sp>
      <p:sp>
        <p:nvSpPr>
          <p:cNvPr id="1498983311" name="outyes"/>
          <p:cNvSpPr/>
          <p:nvPr/>
        </p:nvSpPr>
        <p:spPr bwMode="auto">
          <a:xfrm>
            <a:off x="900000" y="4500000"/>
            <a:ext cx="6680000" cy="760000"/>
          </a:xfrm>
          <a:prstGeom prst="roundRect">
            <a:avLst>
              <a:gd name="adj" fmla="val 9000"/>
            </a:avLst>
          </a:prstGeom>
          <a:solidFill>
            <a:srgbClr val="0A8C99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>
              <a:defRPr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YES → </a:t>
            </a:r>
            <a:r>
              <a:rPr lang="en-US" sz="1250">
                <a:solidFill>
                  <a:srgbClr val="FFFFFF"/>
                </a:solidFill>
                <a:latin typeface="Arial"/>
              </a:rPr>
              <a:t>carry forward to the full 16-day run + confirm at Day 14 endpoint QC</a:t>
            </a:r>
            <a:endParaRPr/>
          </a:p>
        </p:txBody>
      </p:sp>
      <p:sp>
        <p:nvSpPr>
          <p:cNvPr id="1649174384" name="outno"/>
          <p:cNvSpPr/>
          <p:nvPr/>
        </p:nvSpPr>
        <p:spPr bwMode="auto">
          <a:xfrm>
            <a:off x="7760000" y="4500000"/>
            <a:ext cx="3390000" cy="760000"/>
          </a:xfrm>
          <a:prstGeom prst="roundRect">
            <a:avLst>
              <a:gd name="adj" fmla="val 9000"/>
            </a:avLst>
          </a:prstGeom>
          <a:solidFill>
            <a:srgbClr val="E8E8E8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>
              <a:defRPr/>
            </a:pPr>
            <a:r>
              <a:rPr lang="en-US" sz="1250" b="1">
                <a:solidFill>
                  <a:srgbClr val="96337A"/>
                </a:solidFill>
                <a:latin typeface="Arial"/>
              </a:rPr>
              <a:t>NO → </a:t>
            </a:r>
            <a:r>
              <a:rPr lang="en-US" sz="1250">
                <a:solidFill>
                  <a:srgbClr val="404040"/>
                </a:solidFill>
                <a:latin typeface="Arial"/>
              </a:rPr>
              <a:t>drop it fast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7220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Pluripotency exit happens by Day 2 — our first target window</a:t>
            </a:r>
            <a:endParaRPr/>
          </a:p>
        </p:txBody>
      </p:sp>
      <p:sp>
        <p:nvSpPr>
          <p:cNvPr id="127213368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8</a:t>
            </a:fld>
            <a:endParaRPr lang="uk-UA"/>
          </a:p>
        </p:txBody>
      </p:sp>
      <p:pic>
        <p:nvPicPr>
          <p:cNvPr id="1673995151" name="Picture 1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77361" y="2301876"/>
            <a:ext cx="9334500" cy="3857625"/>
          </a:xfrm>
          <a:prstGeom prst="rect">
            <a:avLst/>
          </a:prstGeom>
        </p:spPr>
      </p:pic>
      <p:sp>
        <p:nvSpPr>
          <p:cNvPr id="1195628982" name="Rounded Rectangle 14"/>
          <p:cNvSpPr/>
          <p:nvPr/>
        </p:nvSpPr>
        <p:spPr bwMode="auto">
          <a:xfrm>
            <a:off x="5541053" y="1094916"/>
            <a:ext cx="980901" cy="8229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1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659524" name="Rounded Rectangle 14"/>
          <p:cNvSpPr/>
          <p:nvPr/>
        </p:nvSpPr>
        <p:spPr bwMode="auto">
          <a:xfrm>
            <a:off x="8594463" y="1094916"/>
            <a:ext cx="980901" cy="8229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 2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2840963" name="Rounded Rectangle 27"/>
          <p:cNvSpPr/>
          <p:nvPr/>
        </p:nvSpPr>
        <p:spPr bwMode="auto">
          <a:xfrm>
            <a:off x="2088018" y="1041601"/>
            <a:ext cx="1218053" cy="822960"/>
          </a:xfrm>
          <a:prstGeom prst="roundRect">
            <a:avLst>
              <a:gd name="adj" fmla="val 14000"/>
            </a:avLst>
          </a:prstGeom>
          <a:solidFill>
            <a:srgbClr val="96337A"/>
          </a:solidFill>
          <a:ln w="6350">
            <a:solidFill>
              <a:srgbClr val="9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10</a:t>
            </a:r>
            <a:endParaRPr lang="en-US"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(Neg control)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076622" name="facs_takeaway"/>
          <p:cNvSpPr txBox="1"/>
          <p:nvPr/>
        </p:nvSpPr>
        <p:spPr bwMode="auto">
          <a:xfrm>
            <a:off x="877361" y="1955000"/>
            <a:ext cx="9334500" cy="3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200" b="1">
                <a:solidFill>
                  <a:srgbClr val="96337A"/>
                </a:solidFill>
                <a:latin typeface="Arial"/>
              </a:rPr>
              <a:t>OCT4+/SOX2+ double-positive: </a:t>
            </a:r>
            <a:r>
              <a:rPr lang="en-US" sz="1200">
                <a:solidFill>
                  <a:srgbClr val="262626"/>
                </a:solidFill>
                <a:latin typeface="Arial"/>
              </a:rPr>
              <a:t>~98% (D1) → ~45% (D2) → ~1% (D10) · decision window: D0–D2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051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Chemical screen assay platform (3–4 day turnaround)</a:t>
            </a:r>
            <a:endParaRPr lang="en-US"/>
          </a:p>
        </p:txBody>
      </p:sp>
      <p:sp>
        <p:nvSpPr>
          <p:cNvPr id="9055598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DD}" type="slidenum">
              <a:rPr lang="uk-UA"/>
              <a:t>9</a:t>
            </a:fld>
            <a:endParaRPr lang="uk-UA"/>
          </a:p>
        </p:txBody>
      </p:sp>
      <p:sp>
        <p:nvSpPr>
          <p:cNvPr id="1259905844" name="Rounded Rectangle 14"/>
          <p:cNvSpPr/>
          <p:nvPr/>
        </p:nvSpPr>
        <p:spPr bwMode="auto">
          <a:xfrm flipH="0" flipV="0">
            <a:off x="3709029" y="985537"/>
            <a:ext cx="4154202" cy="8265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1</a:t>
            </a:r>
            <a:endParaRPr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Chemical Treatment without media change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378127" name="Rounded Rectangle 14"/>
          <p:cNvSpPr/>
          <p:nvPr/>
        </p:nvSpPr>
        <p:spPr bwMode="auto">
          <a:xfrm>
            <a:off x="8529332" y="981938"/>
            <a:ext cx="1669217" cy="8301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 2</a:t>
            </a:r>
            <a:endParaRPr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Readout qPCR/FACS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8252706" name="Rounded Rectangle 14"/>
          <p:cNvSpPr/>
          <p:nvPr/>
        </p:nvSpPr>
        <p:spPr bwMode="auto">
          <a:xfrm flipH="0" flipV="0">
            <a:off x="1423820" y="981938"/>
            <a:ext cx="1185084" cy="824760"/>
          </a:xfrm>
          <a:prstGeom prst="roundRect">
            <a:avLst>
              <a:gd name="adj" fmla="val 14000"/>
            </a:avLst>
          </a:prstGeom>
          <a:solidFill>
            <a:srgbClr val="0A8C99"/>
          </a:solidFill>
          <a:ln w="6350">
            <a:solidFill>
              <a:srgbClr val="0A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/>
            </a:pPr>
            <a:r>
              <a:rPr sz="1500" b="1">
                <a:solidFill>
                  <a:srgbClr val="FFFFFF"/>
                </a:solidFill>
                <a:latin typeface="Arial"/>
              </a:rPr>
              <a:t>Day </a:t>
            </a:r>
            <a:r>
              <a:rPr lang="en-US" sz="1500" b="1">
                <a:solidFill>
                  <a:srgbClr val="FFFFFF"/>
                </a:solidFill>
                <a:latin typeface="Arial"/>
              </a:rPr>
              <a:t>0</a:t>
            </a:r>
            <a:endParaRPr lang="en-US" sz="1500" b="1">
              <a:solidFill>
                <a:srgbClr val="FFFFFF"/>
              </a:solidFill>
              <a:latin typeface="Arial"/>
            </a:endParaRPr>
          </a:p>
          <a:p>
            <a:pPr algn="ctr">
              <a:defRPr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Seed</a:t>
            </a:r>
            <a:endParaRPr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587651" name="TextBox 12"/>
          <p:cNvSpPr txBox="1"/>
          <p:nvPr/>
        </p:nvSpPr>
        <p:spPr bwMode="auto">
          <a:xfrm>
            <a:off x="1028261" y="4873445"/>
            <a:ext cx="951574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/>
              <a:t>Screen for </a:t>
            </a:r>
            <a:r>
              <a:rPr lang="en-US" sz="1400"/>
              <a:t>chemicals and concentrations that accelerate downregulation </a:t>
            </a:r>
            <a:r>
              <a:rPr lang="en-US" sz="1400"/>
              <a:t>of SOX2 and OCT4</a:t>
            </a:r>
            <a:endParaRPr/>
          </a:p>
        </p:txBody>
      </p:sp>
      <p:sp>
        <p:nvSpPr>
          <p:cNvPr id="1513544775" name="Text 6"/>
          <p:cNvSpPr/>
          <p:nvPr/>
        </p:nvSpPr>
        <p:spPr bwMode="auto">
          <a:xfrm>
            <a:off x="1140979" y="21234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0E8A8D"/>
                </a:solidFill>
                <a:latin typeface="Arial"/>
                <a:ea typeface="Arial"/>
                <a:cs typeface="Arial"/>
              </a:rPr>
              <a:t>Option 1</a:t>
            </a:r>
            <a:endParaRPr lang="en-US" sz="1550"/>
          </a:p>
          <a:p>
            <a:pPr marL="0" indent="0">
              <a:buNone/>
              <a:defRPr/>
            </a:pPr>
            <a:r>
              <a:rPr lang="en-US" sz="1550" b="1">
                <a:solidFill>
                  <a:srgbClr val="0E8A8D"/>
                </a:solidFill>
                <a:latin typeface="Arial"/>
                <a:ea typeface="Arial"/>
                <a:cs typeface="Arial"/>
              </a:rPr>
              <a:t>Seed once, treat in place</a:t>
            </a:r>
            <a:endParaRPr lang="en-US" sz="1550"/>
          </a:p>
        </p:txBody>
      </p:sp>
      <p:sp>
        <p:nvSpPr>
          <p:cNvPr id="1603724700" name="Shape 7"/>
          <p:cNvSpPr/>
          <p:nvPr/>
        </p:nvSpPr>
        <p:spPr bwMode="auto">
          <a:xfrm>
            <a:off x="1140979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2128410706" name="Text 8"/>
          <p:cNvSpPr/>
          <p:nvPr/>
        </p:nvSpPr>
        <p:spPr bwMode="auto">
          <a:xfrm>
            <a:off x="1232420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Seed 40k / well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96 U-bottom</a:t>
            </a:r>
            <a:endParaRPr lang="en-US" sz="1050"/>
          </a:p>
        </p:txBody>
      </p:sp>
      <p:pic>
        <p:nvPicPr>
          <p:cNvPr id="2035438760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98964" y="2827512"/>
            <a:ext cx="256032" cy="256032"/>
          </a:xfrm>
          <a:prstGeom prst="rect">
            <a:avLst/>
          </a:prstGeom>
        </p:spPr>
      </p:pic>
      <p:sp>
        <p:nvSpPr>
          <p:cNvPr id="1409961974" name="Shape 9"/>
          <p:cNvSpPr/>
          <p:nvPr/>
        </p:nvSpPr>
        <p:spPr bwMode="auto">
          <a:xfrm>
            <a:off x="3628148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1037970378" name="Text 10"/>
          <p:cNvSpPr/>
          <p:nvPr/>
        </p:nvSpPr>
        <p:spPr bwMode="auto">
          <a:xfrm>
            <a:off x="3719588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Forced aggregate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forms by D1</a:t>
            </a:r>
            <a:endParaRPr lang="en-US" sz="1050"/>
          </a:p>
        </p:txBody>
      </p:sp>
      <p:pic>
        <p:nvPicPr>
          <p:cNvPr id="506393784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86131" y="2827512"/>
            <a:ext cx="256032" cy="256032"/>
          </a:xfrm>
          <a:prstGeom prst="rect">
            <a:avLst/>
          </a:prstGeom>
        </p:spPr>
      </p:pic>
      <p:sp>
        <p:nvSpPr>
          <p:cNvPr id="301627917" name="Shape 11"/>
          <p:cNvSpPr/>
          <p:nvPr/>
        </p:nvSpPr>
        <p:spPr bwMode="auto">
          <a:xfrm>
            <a:off x="6115316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1247650077" name="Text 12"/>
          <p:cNvSpPr/>
          <p:nvPr/>
        </p:nvSpPr>
        <p:spPr bwMode="auto">
          <a:xfrm>
            <a:off x="6206756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Add 10 µl chemical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in situ</a:t>
            </a:r>
            <a:endParaRPr lang="en-US" sz="1050"/>
          </a:p>
        </p:txBody>
      </p:sp>
      <p:pic>
        <p:nvPicPr>
          <p:cNvPr id="1285788098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73300" y="2827512"/>
            <a:ext cx="256032" cy="256032"/>
          </a:xfrm>
          <a:prstGeom prst="rect">
            <a:avLst/>
          </a:prstGeom>
        </p:spPr>
      </p:pic>
      <p:sp>
        <p:nvSpPr>
          <p:cNvPr id="1862265997" name="Shape 13"/>
          <p:cNvSpPr/>
          <p:nvPr/>
        </p:nvSpPr>
        <p:spPr bwMode="auto">
          <a:xfrm>
            <a:off x="8602484" y="2699496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AF4F4"/>
          </a:solidFill>
          <a:ln/>
        </p:spPr>
      </p:sp>
      <p:sp>
        <p:nvSpPr>
          <p:cNvPr id="116538260" name="Text 14"/>
          <p:cNvSpPr/>
          <p:nvPr/>
        </p:nvSpPr>
        <p:spPr bwMode="auto">
          <a:xfrm>
            <a:off x="8693924" y="2699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Harvest D2</a:t>
            </a:r>
            <a:endParaRPr lang="en-US" sz="1050"/>
          </a:p>
        </p:txBody>
      </p:sp>
      <p:sp>
        <p:nvSpPr>
          <p:cNvPr id="895524065" name="Text 18"/>
          <p:cNvSpPr/>
          <p:nvPr/>
        </p:nvSpPr>
        <p:spPr bwMode="auto">
          <a:xfrm>
            <a:off x="1064791" y="3499139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C0492F"/>
                </a:solidFill>
                <a:latin typeface="Arial"/>
                <a:ea typeface="Arial"/>
                <a:cs typeface="Arial"/>
              </a:rPr>
              <a:t>Option 2</a:t>
            </a:r>
            <a:endParaRPr lang="en-US" sz="1550"/>
          </a:p>
          <a:p>
            <a:pPr marL="0" indent="0">
              <a:buNone/>
              <a:defRPr/>
            </a:pPr>
            <a:r>
              <a:rPr lang="en-US" sz="1550" b="1">
                <a:solidFill>
                  <a:srgbClr val="C0492F"/>
                </a:solidFill>
                <a:latin typeface="Arial"/>
                <a:ea typeface="Arial"/>
                <a:cs typeface="Arial"/>
              </a:rPr>
              <a:t>Re-aliquot at D1</a:t>
            </a:r>
            <a:endParaRPr lang="en-US" sz="1550"/>
          </a:p>
        </p:txBody>
      </p:sp>
      <p:sp>
        <p:nvSpPr>
          <p:cNvPr id="1732171858" name="Shape 19"/>
          <p:cNvSpPr/>
          <p:nvPr/>
        </p:nvSpPr>
        <p:spPr bwMode="auto">
          <a:xfrm>
            <a:off x="1064791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1755248068" name="Text 20"/>
          <p:cNvSpPr/>
          <p:nvPr/>
        </p:nvSpPr>
        <p:spPr bwMode="auto">
          <a:xfrm>
            <a:off x="1156232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Bulk seed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C2C34"/>
                </a:solidFill>
                <a:latin typeface="Arial"/>
                <a:ea typeface="Arial"/>
                <a:cs typeface="Arial"/>
              </a:rPr>
              <a:t>in 6-well</a:t>
            </a:r>
            <a:endParaRPr lang="en-US" sz="1050"/>
          </a:p>
        </p:txBody>
      </p:sp>
      <p:pic>
        <p:nvPicPr>
          <p:cNvPr id="357300684" name="Image 5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22776" y="4203227"/>
            <a:ext cx="256032" cy="256032"/>
          </a:xfrm>
          <a:prstGeom prst="rect">
            <a:avLst/>
          </a:prstGeom>
        </p:spPr>
      </p:pic>
      <p:sp>
        <p:nvSpPr>
          <p:cNvPr id="1211544990" name="Shape 21"/>
          <p:cNvSpPr/>
          <p:nvPr/>
        </p:nvSpPr>
        <p:spPr bwMode="auto">
          <a:xfrm>
            <a:off x="3551960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2037601800" name="Text 22"/>
          <p:cNvSpPr/>
          <p:nvPr/>
        </p:nvSpPr>
        <p:spPr bwMode="auto">
          <a:xfrm>
            <a:off x="3643399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/>
              <a:t>Collect and aliquot 200ul aggregates </a:t>
            </a:r>
            <a:endParaRPr lang="en-US" sz="1050"/>
          </a:p>
        </p:txBody>
      </p:sp>
      <p:pic>
        <p:nvPicPr>
          <p:cNvPr id="261023616" name="Image 6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09944" y="4203227"/>
            <a:ext cx="256032" cy="256032"/>
          </a:xfrm>
          <a:prstGeom prst="rect">
            <a:avLst/>
          </a:prstGeom>
        </p:spPr>
      </p:pic>
      <p:sp>
        <p:nvSpPr>
          <p:cNvPr id="1574088278" name="Shape 23"/>
          <p:cNvSpPr/>
          <p:nvPr/>
        </p:nvSpPr>
        <p:spPr bwMode="auto">
          <a:xfrm>
            <a:off x="6039128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701186838" name="Text 24"/>
          <p:cNvSpPr/>
          <p:nvPr/>
        </p:nvSpPr>
        <p:spPr bwMode="auto">
          <a:xfrm>
            <a:off x="6130567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sz="1050"/>
          </a:p>
          <a:p>
            <a:pPr marL="0" indent="0" algn="ctr">
              <a:buNone/>
              <a:defRPr/>
            </a:pPr>
            <a:r>
              <a:rPr lang="en-US" sz="1050" b="0" i="0" u="none" strike="noStrike" cap="none" spc="0">
                <a:solidFill>
                  <a:srgbClr val="2C2C34"/>
                </a:solidFill>
                <a:latin typeface="Arial"/>
                <a:ea typeface="Arial"/>
                <a:cs typeface="Arial"/>
              </a:rPr>
              <a:t>Add 10 µl chemical</a:t>
            </a:r>
            <a:endParaRPr lang="en-US" sz="1050" b="0" i="0" u="none" strike="noStrike" cap="none" spc="0">
              <a:solidFill>
                <a:srgbClr val="2C2C34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buNone/>
              <a:defRPr/>
            </a:pPr>
            <a:r>
              <a:rPr lang="en-US" sz="1050" b="0" i="0" u="none" strike="noStrike" cap="none" spc="0">
                <a:solidFill>
                  <a:srgbClr val="2C2C34"/>
                </a:solidFill>
                <a:latin typeface="Arial"/>
                <a:ea typeface="Arial"/>
                <a:cs typeface="Arial"/>
              </a:rPr>
              <a:t>in situ</a:t>
            </a:r>
            <a:endParaRPr lang="en-US" sz="1050"/>
          </a:p>
          <a:p>
            <a:pPr marL="0" indent="0" algn="ctr">
              <a:buNone/>
              <a:defRPr/>
            </a:pPr>
            <a:endParaRPr lang="en-US" sz="1050"/>
          </a:p>
        </p:txBody>
      </p:sp>
      <p:pic>
        <p:nvPicPr>
          <p:cNvPr id="2060047609" name="Image 7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197112" y="4203227"/>
            <a:ext cx="256032" cy="256032"/>
          </a:xfrm>
          <a:prstGeom prst="rect">
            <a:avLst/>
          </a:prstGeom>
        </p:spPr>
      </p:pic>
      <p:sp>
        <p:nvSpPr>
          <p:cNvPr id="1267538838" name="Shape 25"/>
          <p:cNvSpPr/>
          <p:nvPr/>
        </p:nvSpPr>
        <p:spPr bwMode="auto">
          <a:xfrm>
            <a:off x="8526296" y="4075211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0EEF0"/>
          </a:solidFill>
          <a:ln/>
        </p:spPr>
      </p:sp>
      <p:sp>
        <p:nvSpPr>
          <p:cNvPr id="1837070698" name="Text 26"/>
          <p:cNvSpPr/>
          <p:nvPr/>
        </p:nvSpPr>
        <p:spPr bwMode="auto">
          <a:xfrm>
            <a:off x="8617736" y="4075211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sz="1050"/>
          </a:p>
          <a:p>
            <a:pPr marL="0" indent="0" algn="ctr">
              <a:buNone/>
              <a:defRPr/>
            </a:pPr>
            <a:r>
              <a:rPr lang="en-US" sz="1050" b="0" i="0" u="none" strike="noStrike" cap="none" spc="0">
                <a:solidFill>
                  <a:srgbClr val="2C2C34"/>
                </a:solidFill>
                <a:latin typeface="Arial"/>
                <a:ea typeface="Arial"/>
                <a:cs typeface="Arial"/>
              </a:rPr>
              <a:t>Harvest D2</a:t>
            </a:r>
            <a:endParaRPr lang="en-US" sz="1050" b="0" i="0" u="none" strike="noStrike" cap="none" spc="0">
              <a:solidFill>
                <a:srgbClr val="2C2C34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buNone/>
              <a:defRPr/>
            </a:pPr>
            <a:endParaRPr lang="en-US" sz="1050"/>
          </a:p>
        </p:txBody>
      </p:sp>
      <p:sp>
        <p:nvSpPr>
          <p:cNvPr id="40685948" name=""/>
          <p:cNvSpPr txBox="1"/>
          <p:nvPr/>
        </p:nvSpPr>
        <p:spPr bwMode="auto">
          <a:xfrm rot="0" flipH="0" flipV="0">
            <a:off x="1190663" y="5486796"/>
            <a:ext cx="9749804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Candidate cues: JNK inhibitor family, FGF2, Activin A, BMP4, Activin A / BMP4 combo, matrix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943488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4079" cy="302112"/>
          </a:xfrm>
        </p:spPr>
        <p:txBody>
          <a:bodyPr/>
          <a:lstStyle/>
          <a:p>
            <a:pPr>
              <a:defRPr/>
            </a:pPr>
            <a:r>
              <a:rPr lang="en-US"/>
              <a:t>Plate layout: 4 cues + control per 96-well plate</a:t>
            </a:r>
            <a:endParaRPr lang="en-US"/>
          </a:p>
        </p:txBody>
      </p:sp>
      <p:sp>
        <p:nvSpPr>
          <p:cNvPr id="1559852989" name="Slide Number Placeholder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2508EA-8754-4B34-9CBF-483A9F6467AA}" type="slidenum">
              <a:rPr lang="uk-UA"/>
              <a:t>6</a:t>
            </a:fld>
            <a:endParaRPr lang="uk-UA"/>
          </a:p>
        </p:txBody>
      </p:sp>
      <p:sp>
        <p:nvSpPr>
          <p:cNvPr id="1072027734" name="w"/>
          <p:cNvSpPr/>
          <p:nvPr/>
        </p:nvSpPr>
        <p:spPr bwMode="auto">
          <a:xfrm>
            <a:off x="51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830190" name="w"/>
          <p:cNvSpPr/>
          <p:nvPr/>
        </p:nvSpPr>
        <p:spPr bwMode="auto">
          <a:xfrm>
            <a:off x="56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7537096" name="w"/>
          <p:cNvSpPr/>
          <p:nvPr/>
        </p:nvSpPr>
        <p:spPr bwMode="auto">
          <a:xfrm>
            <a:off x="61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8363714" name="w"/>
          <p:cNvSpPr/>
          <p:nvPr/>
        </p:nvSpPr>
        <p:spPr bwMode="auto">
          <a:xfrm>
            <a:off x="66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8483514" name="w"/>
          <p:cNvSpPr/>
          <p:nvPr/>
        </p:nvSpPr>
        <p:spPr bwMode="auto">
          <a:xfrm>
            <a:off x="71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5559817" name="w"/>
          <p:cNvSpPr/>
          <p:nvPr/>
        </p:nvSpPr>
        <p:spPr bwMode="auto">
          <a:xfrm>
            <a:off x="7650000" y="1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1429577" name="w"/>
          <p:cNvSpPr/>
          <p:nvPr/>
        </p:nvSpPr>
        <p:spPr bwMode="auto">
          <a:xfrm>
            <a:off x="81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7049474" name="w"/>
          <p:cNvSpPr/>
          <p:nvPr/>
        </p:nvSpPr>
        <p:spPr bwMode="auto">
          <a:xfrm>
            <a:off x="86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7296561" name="w"/>
          <p:cNvSpPr/>
          <p:nvPr/>
        </p:nvSpPr>
        <p:spPr bwMode="auto">
          <a:xfrm>
            <a:off x="91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240924" name="w"/>
          <p:cNvSpPr/>
          <p:nvPr/>
        </p:nvSpPr>
        <p:spPr bwMode="auto">
          <a:xfrm>
            <a:off x="96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648960" name="w"/>
          <p:cNvSpPr/>
          <p:nvPr/>
        </p:nvSpPr>
        <p:spPr bwMode="auto">
          <a:xfrm>
            <a:off x="101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6895808" name="w"/>
          <p:cNvSpPr/>
          <p:nvPr/>
        </p:nvSpPr>
        <p:spPr bwMode="auto">
          <a:xfrm>
            <a:off x="10650000" y="1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4922434" name="w"/>
          <p:cNvSpPr/>
          <p:nvPr/>
        </p:nvSpPr>
        <p:spPr bwMode="auto">
          <a:xfrm>
            <a:off x="51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7561125" name="w"/>
          <p:cNvSpPr/>
          <p:nvPr/>
        </p:nvSpPr>
        <p:spPr bwMode="auto">
          <a:xfrm>
            <a:off x="56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9177887" name="w"/>
          <p:cNvSpPr/>
          <p:nvPr/>
        </p:nvSpPr>
        <p:spPr bwMode="auto">
          <a:xfrm>
            <a:off x="61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0023313" name="w"/>
          <p:cNvSpPr/>
          <p:nvPr/>
        </p:nvSpPr>
        <p:spPr bwMode="auto">
          <a:xfrm>
            <a:off x="66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66001949" name="w"/>
          <p:cNvSpPr/>
          <p:nvPr/>
        </p:nvSpPr>
        <p:spPr bwMode="auto">
          <a:xfrm>
            <a:off x="71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1242763" name="w"/>
          <p:cNvSpPr/>
          <p:nvPr/>
        </p:nvSpPr>
        <p:spPr bwMode="auto">
          <a:xfrm>
            <a:off x="7650000" y="23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9860288" name="w"/>
          <p:cNvSpPr/>
          <p:nvPr/>
        </p:nvSpPr>
        <p:spPr bwMode="auto">
          <a:xfrm>
            <a:off x="81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9682121" name="w"/>
          <p:cNvSpPr/>
          <p:nvPr/>
        </p:nvSpPr>
        <p:spPr bwMode="auto">
          <a:xfrm>
            <a:off x="86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6386855" name="w"/>
          <p:cNvSpPr/>
          <p:nvPr/>
        </p:nvSpPr>
        <p:spPr bwMode="auto">
          <a:xfrm>
            <a:off x="91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6575151" name="w"/>
          <p:cNvSpPr/>
          <p:nvPr/>
        </p:nvSpPr>
        <p:spPr bwMode="auto">
          <a:xfrm>
            <a:off x="96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488926" name="w"/>
          <p:cNvSpPr/>
          <p:nvPr/>
        </p:nvSpPr>
        <p:spPr bwMode="auto">
          <a:xfrm>
            <a:off x="101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243478" name="w"/>
          <p:cNvSpPr/>
          <p:nvPr/>
        </p:nvSpPr>
        <p:spPr bwMode="auto">
          <a:xfrm>
            <a:off x="10650000" y="23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6322057" name="w"/>
          <p:cNvSpPr/>
          <p:nvPr/>
        </p:nvSpPr>
        <p:spPr bwMode="auto">
          <a:xfrm>
            <a:off x="51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9611177" name="w"/>
          <p:cNvSpPr/>
          <p:nvPr/>
        </p:nvSpPr>
        <p:spPr bwMode="auto">
          <a:xfrm>
            <a:off x="56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7039388" name="w"/>
          <p:cNvSpPr/>
          <p:nvPr/>
        </p:nvSpPr>
        <p:spPr bwMode="auto">
          <a:xfrm>
            <a:off x="61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2062308" name="w"/>
          <p:cNvSpPr/>
          <p:nvPr/>
        </p:nvSpPr>
        <p:spPr bwMode="auto">
          <a:xfrm>
            <a:off x="66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04981" name="w"/>
          <p:cNvSpPr/>
          <p:nvPr/>
        </p:nvSpPr>
        <p:spPr bwMode="auto">
          <a:xfrm>
            <a:off x="71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1754554" name="w"/>
          <p:cNvSpPr/>
          <p:nvPr/>
        </p:nvSpPr>
        <p:spPr bwMode="auto">
          <a:xfrm>
            <a:off x="7650000" y="2820000"/>
            <a:ext cx="380000" cy="38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2778832" name="w"/>
          <p:cNvSpPr/>
          <p:nvPr/>
        </p:nvSpPr>
        <p:spPr bwMode="auto">
          <a:xfrm>
            <a:off x="81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3500823" name="w"/>
          <p:cNvSpPr/>
          <p:nvPr/>
        </p:nvSpPr>
        <p:spPr bwMode="auto">
          <a:xfrm>
            <a:off x="86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7604681" name="w"/>
          <p:cNvSpPr/>
          <p:nvPr/>
        </p:nvSpPr>
        <p:spPr bwMode="auto">
          <a:xfrm>
            <a:off x="91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797385" name="w"/>
          <p:cNvSpPr/>
          <p:nvPr/>
        </p:nvSpPr>
        <p:spPr bwMode="auto">
          <a:xfrm>
            <a:off x="96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271218" name="w"/>
          <p:cNvSpPr/>
          <p:nvPr/>
        </p:nvSpPr>
        <p:spPr bwMode="auto">
          <a:xfrm>
            <a:off x="101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395810" name="w"/>
          <p:cNvSpPr/>
          <p:nvPr/>
        </p:nvSpPr>
        <p:spPr bwMode="auto">
          <a:xfrm>
            <a:off x="10650000" y="2820000"/>
            <a:ext cx="380000" cy="38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3696534" name="w"/>
          <p:cNvSpPr/>
          <p:nvPr/>
        </p:nvSpPr>
        <p:spPr bwMode="auto">
          <a:xfrm>
            <a:off x="51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2631753" name="w"/>
          <p:cNvSpPr/>
          <p:nvPr/>
        </p:nvSpPr>
        <p:spPr bwMode="auto">
          <a:xfrm>
            <a:off x="56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3636738" name="w"/>
          <p:cNvSpPr/>
          <p:nvPr/>
        </p:nvSpPr>
        <p:spPr bwMode="auto">
          <a:xfrm>
            <a:off x="61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7268467" name="w"/>
          <p:cNvSpPr/>
          <p:nvPr/>
        </p:nvSpPr>
        <p:spPr bwMode="auto">
          <a:xfrm>
            <a:off x="66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4120254" name="w"/>
          <p:cNvSpPr/>
          <p:nvPr/>
        </p:nvSpPr>
        <p:spPr bwMode="auto">
          <a:xfrm>
            <a:off x="71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7285565" name="w"/>
          <p:cNvSpPr/>
          <p:nvPr/>
        </p:nvSpPr>
        <p:spPr bwMode="auto">
          <a:xfrm>
            <a:off x="7650000" y="3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8548067" name="w"/>
          <p:cNvSpPr/>
          <p:nvPr/>
        </p:nvSpPr>
        <p:spPr bwMode="auto">
          <a:xfrm>
            <a:off x="81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83422" name="w"/>
          <p:cNvSpPr/>
          <p:nvPr/>
        </p:nvSpPr>
        <p:spPr bwMode="auto">
          <a:xfrm>
            <a:off x="86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6593565" name="w"/>
          <p:cNvSpPr/>
          <p:nvPr/>
        </p:nvSpPr>
        <p:spPr bwMode="auto">
          <a:xfrm>
            <a:off x="91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3427434" name="w"/>
          <p:cNvSpPr/>
          <p:nvPr/>
        </p:nvSpPr>
        <p:spPr bwMode="auto">
          <a:xfrm>
            <a:off x="96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6128967" name="w"/>
          <p:cNvSpPr/>
          <p:nvPr/>
        </p:nvSpPr>
        <p:spPr bwMode="auto">
          <a:xfrm>
            <a:off x="101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413848" name="w"/>
          <p:cNvSpPr/>
          <p:nvPr/>
        </p:nvSpPr>
        <p:spPr bwMode="auto">
          <a:xfrm>
            <a:off x="10650000" y="3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9093119" name="w"/>
          <p:cNvSpPr/>
          <p:nvPr/>
        </p:nvSpPr>
        <p:spPr bwMode="auto">
          <a:xfrm>
            <a:off x="51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381840" name="w"/>
          <p:cNvSpPr/>
          <p:nvPr/>
        </p:nvSpPr>
        <p:spPr bwMode="auto">
          <a:xfrm>
            <a:off x="56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9045088" name="w"/>
          <p:cNvSpPr/>
          <p:nvPr/>
        </p:nvSpPr>
        <p:spPr bwMode="auto">
          <a:xfrm>
            <a:off x="61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7870381" name="w"/>
          <p:cNvSpPr/>
          <p:nvPr/>
        </p:nvSpPr>
        <p:spPr bwMode="auto">
          <a:xfrm>
            <a:off x="66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1831749" name="w"/>
          <p:cNvSpPr/>
          <p:nvPr/>
        </p:nvSpPr>
        <p:spPr bwMode="auto">
          <a:xfrm>
            <a:off x="71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5596126" name="w"/>
          <p:cNvSpPr/>
          <p:nvPr/>
        </p:nvSpPr>
        <p:spPr bwMode="auto">
          <a:xfrm>
            <a:off x="7650000" y="38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691464" name="w"/>
          <p:cNvSpPr/>
          <p:nvPr/>
        </p:nvSpPr>
        <p:spPr bwMode="auto">
          <a:xfrm>
            <a:off x="81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3698756" name="w"/>
          <p:cNvSpPr/>
          <p:nvPr/>
        </p:nvSpPr>
        <p:spPr bwMode="auto">
          <a:xfrm>
            <a:off x="86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4769144" name="w"/>
          <p:cNvSpPr/>
          <p:nvPr/>
        </p:nvSpPr>
        <p:spPr bwMode="auto">
          <a:xfrm>
            <a:off x="91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0978918" name="w"/>
          <p:cNvSpPr/>
          <p:nvPr/>
        </p:nvSpPr>
        <p:spPr bwMode="auto">
          <a:xfrm>
            <a:off x="96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7679981" name="w"/>
          <p:cNvSpPr/>
          <p:nvPr/>
        </p:nvSpPr>
        <p:spPr bwMode="auto">
          <a:xfrm>
            <a:off x="101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5936483" name="w"/>
          <p:cNvSpPr/>
          <p:nvPr/>
        </p:nvSpPr>
        <p:spPr bwMode="auto">
          <a:xfrm>
            <a:off x="10650000" y="38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48007" name="w"/>
          <p:cNvSpPr/>
          <p:nvPr/>
        </p:nvSpPr>
        <p:spPr bwMode="auto">
          <a:xfrm>
            <a:off x="51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5532194" name="w"/>
          <p:cNvSpPr/>
          <p:nvPr/>
        </p:nvSpPr>
        <p:spPr bwMode="auto">
          <a:xfrm>
            <a:off x="56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2368352" name="w"/>
          <p:cNvSpPr/>
          <p:nvPr/>
        </p:nvSpPr>
        <p:spPr bwMode="auto">
          <a:xfrm>
            <a:off x="61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7641817" name="w"/>
          <p:cNvSpPr/>
          <p:nvPr/>
        </p:nvSpPr>
        <p:spPr bwMode="auto">
          <a:xfrm>
            <a:off x="66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5210174" name="w"/>
          <p:cNvSpPr/>
          <p:nvPr/>
        </p:nvSpPr>
        <p:spPr bwMode="auto">
          <a:xfrm>
            <a:off x="71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597195" name="w"/>
          <p:cNvSpPr/>
          <p:nvPr/>
        </p:nvSpPr>
        <p:spPr bwMode="auto">
          <a:xfrm>
            <a:off x="7650000" y="4320000"/>
            <a:ext cx="380000" cy="38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69474" name="w"/>
          <p:cNvSpPr/>
          <p:nvPr/>
        </p:nvSpPr>
        <p:spPr bwMode="auto">
          <a:xfrm>
            <a:off x="81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2467109" name="w"/>
          <p:cNvSpPr/>
          <p:nvPr/>
        </p:nvSpPr>
        <p:spPr bwMode="auto">
          <a:xfrm>
            <a:off x="86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9927799" name="w"/>
          <p:cNvSpPr/>
          <p:nvPr/>
        </p:nvSpPr>
        <p:spPr bwMode="auto">
          <a:xfrm>
            <a:off x="91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6953017" name="w"/>
          <p:cNvSpPr/>
          <p:nvPr/>
        </p:nvSpPr>
        <p:spPr bwMode="auto">
          <a:xfrm>
            <a:off x="96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5399955" name="w"/>
          <p:cNvSpPr/>
          <p:nvPr/>
        </p:nvSpPr>
        <p:spPr bwMode="auto">
          <a:xfrm>
            <a:off x="101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7803884" name="w"/>
          <p:cNvSpPr/>
          <p:nvPr/>
        </p:nvSpPr>
        <p:spPr bwMode="auto">
          <a:xfrm>
            <a:off x="10650000" y="4320000"/>
            <a:ext cx="380000" cy="38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3501092" name="w"/>
          <p:cNvSpPr/>
          <p:nvPr/>
        </p:nvSpPr>
        <p:spPr bwMode="auto">
          <a:xfrm>
            <a:off x="5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6879244" name="w"/>
          <p:cNvSpPr/>
          <p:nvPr/>
        </p:nvSpPr>
        <p:spPr bwMode="auto">
          <a:xfrm>
            <a:off x="5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3973681" name="w"/>
          <p:cNvSpPr/>
          <p:nvPr/>
        </p:nvSpPr>
        <p:spPr bwMode="auto">
          <a:xfrm>
            <a:off x="6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859415" name="w"/>
          <p:cNvSpPr/>
          <p:nvPr/>
        </p:nvSpPr>
        <p:spPr bwMode="auto">
          <a:xfrm>
            <a:off x="6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4779987" name="w"/>
          <p:cNvSpPr/>
          <p:nvPr/>
        </p:nvSpPr>
        <p:spPr bwMode="auto">
          <a:xfrm>
            <a:off x="7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0392177" name="w"/>
          <p:cNvSpPr/>
          <p:nvPr/>
        </p:nvSpPr>
        <p:spPr bwMode="auto">
          <a:xfrm>
            <a:off x="7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2810593" name="w"/>
          <p:cNvSpPr/>
          <p:nvPr/>
        </p:nvSpPr>
        <p:spPr bwMode="auto">
          <a:xfrm>
            <a:off x="8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7246085" name="w"/>
          <p:cNvSpPr/>
          <p:nvPr/>
        </p:nvSpPr>
        <p:spPr bwMode="auto">
          <a:xfrm>
            <a:off x="8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7495426" name="w"/>
          <p:cNvSpPr/>
          <p:nvPr/>
        </p:nvSpPr>
        <p:spPr bwMode="auto">
          <a:xfrm>
            <a:off x="9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2879671" name="w"/>
          <p:cNvSpPr/>
          <p:nvPr/>
        </p:nvSpPr>
        <p:spPr bwMode="auto">
          <a:xfrm>
            <a:off x="9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8195930" name="w"/>
          <p:cNvSpPr/>
          <p:nvPr/>
        </p:nvSpPr>
        <p:spPr bwMode="auto">
          <a:xfrm>
            <a:off x="101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282933" name="w"/>
          <p:cNvSpPr/>
          <p:nvPr/>
        </p:nvSpPr>
        <p:spPr bwMode="auto">
          <a:xfrm>
            <a:off x="10650000" y="48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1832448" name="w"/>
          <p:cNvSpPr/>
          <p:nvPr/>
        </p:nvSpPr>
        <p:spPr bwMode="auto">
          <a:xfrm>
            <a:off x="5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7909679" name="w"/>
          <p:cNvSpPr/>
          <p:nvPr/>
        </p:nvSpPr>
        <p:spPr bwMode="auto">
          <a:xfrm>
            <a:off x="5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9881166" name="w"/>
          <p:cNvSpPr/>
          <p:nvPr/>
        </p:nvSpPr>
        <p:spPr bwMode="auto">
          <a:xfrm>
            <a:off x="6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0298084" name="w"/>
          <p:cNvSpPr/>
          <p:nvPr/>
        </p:nvSpPr>
        <p:spPr bwMode="auto">
          <a:xfrm>
            <a:off x="6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4442380" name="w"/>
          <p:cNvSpPr/>
          <p:nvPr/>
        </p:nvSpPr>
        <p:spPr bwMode="auto">
          <a:xfrm>
            <a:off x="7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8809203" name="w"/>
          <p:cNvSpPr/>
          <p:nvPr/>
        </p:nvSpPr>
        <p:spPr bwMode="auto">
          <a:xfrm>
            <a:off x="7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1202354" name="w"/>
          <p:cNvSpPr/>
          <p:nvPr/>
        </p:nvSpPr>
        <p:spPr bwMode="auto">
          <a:xfrm>
            <a:off x="8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0656001" name="w"/>
          <p:cNvSpPr/>
          <p:nvPr/>
        </p:nvSpPr>
        <p:spPr bwMode="auto">
          <a:xfrm>
            <a:off x="8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0487946" name="w"/>
          <p:cNvSpPr/>
          <p:nvPr/>
        </p:nvSpPr>
        <p:spPr bwMode="auto">
          <a:xfrm>
            <a:off x="9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1953195" name="w"/>
          <p:cNvSpPr/>
          <p:nvPr/>
        </p:nvSpPr>
        <p:spPr bwMode="auto">
          <a:xfrm>
            <a:off x="9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2667630" name="w"/>
          <p:cNvSpPr/>
          <p:nvPr/>
        </p:nvSpPr>
        <p:spPr bwMode="auto">
          <a:xfrm>
            <a:off x="101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941241" name="w"/>
          <p:cNvSpPr/>
          <p:nvPr/>
        </p:nvSpPr>
        <p:spPr bwMode="auto">
          <a:xfrm>
            <a:off x="10650000" y="5320000"/>
            <a:ext cx="380000" cy="38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621195" name="t"/>
          <p:cNvSpPr txBox="1"/>
          <p:nvPr/>
        </p:nvSpPr>
        <p:spPr bwMode="auto">
          <a:xfrm>
            <a:off x="5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</a:t>
            </a:r>
            <a:endParaRPr/>
          </a:p>
        </p:txBody>
      </p:sp>
      <p:sp>
        <p:nvSpPr>
          <p:cNvPr id="145117035" name="t"/>
          <p:cNvSpPr txBox="1"/>
          <p:nvPr/>
        </p:nvSpPr>
        <p:spPr bwMode="auto">
          <a:xfrm>
            <a:off x="5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2</a:t>
            </a:r>
            <a:endParaRPr/>
          </a:p>
        </p:txBody>
      </p:sp>
      <p:sp>
        <p:nvSpPr>
          <p:cNvPr id="10271732" name="t"/>
          <p:cNvSpPr txBox="1"/>
          <p:nvPr/>
        </p:nvSpPr>
        <p:spPr bwMode="auto">
          <a:xfrm>
            <a:off x="6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3</a:t>
            </a:r>
            <a:endParaRPr/>
          </a:p>
        </p:txBody>
      </p:sp>
      <p:sp>
        <p:nvSpPr>
          <p:cNvPr id="996013477" name="t"/>
          <p:cNvSpPr txBox="1"/>
          <p:nvPr/>
        </p:nvSpPr>
        <p:spPr bwMode="auto">
          <a:xfrm>
            <a:off x="6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4</a:t>
            </a:r>
            <a:endParaRPr/>
          </a:p>
        </p:txBody>
      </p:sp>
      <p:sp>
        <p:nvSpPr>
          <p:cNvPr id="1466039071" name="t"/>
          <p:cNvSpPr txBox="1"/>
          <p:nvPr/>
        </p:nvSpPr>
        <p:spPr bwMode="auto">
          <a:xfrm>
            <a:off x="7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5</a:t>
            </a:r>
            <a:endParaRPr/>
          </a:p>
        </p:txBody>
      </p:sp>
      <p:sp>
        <p:nvSpPr>
          <p:cNvPr id="227126408" name="t"/>
          <p:cNvSpPr txBox="1"/>
          <p:nvPr/>
        </p:nvSpPr>
        <p:spPr bwMode="auto">
          <a:xfrm>
            <a:off x="7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6</a:t>
            </a:r>
            <a:endParaRPr/>
          </a:p>
        </p:txBody>
      </p:sp>
      <p:sp>
        <p:nvSpPr>
          <p:cNvPr id="1735024253" name="t"/>
          <p:cNvSpPr txBox="1"/>
          <p:nvPr/>
        </p:nvSpPr>
        <p:spPr bwMode="auto">
          <a:xfrm>
            <a:off x="8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7</a:t>
            </a:r>
            <a:endParaRPr/>
          </a:p>
        </p:txBody>
      </p:sp>
      <p:sp>
        <p:nvSpPr>
          <p:cNvPr id="1416867446" name="t"/>
          <p:cNvSpPr txBox="1"/>
          <p:nvPr/>
        </p:nvSpPr>
        <p:spPr bwMode="auto">
          <a:xfrm>
            <a:off x="8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8</a:t>
            </a:r>
            <a:endParaRPr/>
          </a:p>
        </p:txBody>
      </p:sp>
      <p:sp>
        <p:nvSpPr>
          <p:cNvPr id="218476797" name="t"/>
          <p:cNvSpPr txBox="1"/>
          <p:nvPr/>
        </p:nvSpPr>
        <p:spPr bwMode="auto">
          <a:xfrm>
            <a:off x="9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9</a:t>
            </a:r>
            <a:endParaRPr/>
          </a:p>
        </p:txBody>
      </p:sp>
      <p:sp>
        <p:nvSpPr>
          <p:cNvPr id="1055136328" name="t"/>
          <p:cNvSpPr txBox="1"/>
          <p:nvPr/>
        </p:nvSpPr>
        <p:spPr bwMode="auto">
          <a:xfrm>
            <a:off x="9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10</a:t>
            </a:r>
            <a:endParaRPr/>
          </a:p>
        </p:txBody>
      </p:sp>
      <p:sp>
        <p:nvSpPr>
          <p:cNvPr id="683692559" name="t"/>
          <p:cNvSpPr txBox="1"/>
          <p:nvPr/>
        </p:nvSpPr>
        <p:spPr bwMode="auto">
          <a:xfrm>
            <a:off x="101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11</a:t>
            </a:r>
            <a:endParaRPr/>
          </a:p>
        </p:txBody>
      </p:sp>
      <p:sp>
        <p:nvSpPr>
          <p:cNvPr id="350801672" name="t"/>
          <p:cNvSpPr txBox="1"/>
          <p:nvPr/>
        </p:nvSpPr>
        <p:spPr bwMode="auto">
          <a:xfrm>
            <a:off x="10650000" y="1520000"/>
            <a:ext cx="380000" cy="24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12</a:t>
            </a:r>
            <a:endParaRPr/>
          </a:p>
        </p:txBody>
      </p:sp>
      <p:sp>
        <p:nvSpPr>
          <p:cNvPr id="1598172128" name="t"/>
          <p:cNvSpPr txBox="1"/>
          <p:nvPr/>
        </p:nvSpPr>
        <p:spPr bwMode="auto">
          <a:xfrm>
            <a:off x="4790000" y="1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A</a:t>
            </a:r>
            <a:endParaRPr/>
          </a:p>
        </p:txBody>
      </p:sp>
      <p:sp>
        <p:nvSpPr>
          <p:cNvPr id="1167057195" name="t"/>
          <p:cNvSpPr txBox="1"/>
          <p:nvPr/>
        </p:nvSpPr>
        <p:spPr bwMode="auto">
          <a:xfrm>
            <a:off x="4790000" y="2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B</a:t>
            </a:r>
            <a:endParaRPr/>
          </a:p>
        </p:txBody>
      </p:sp>
      <p:sp>
        <p:nvSpPr>
          <p:cNvPr id="163660583" name="t"/>
          <p:cNvSpPr txBox="1"/>
          <p:nvPr/>
        </p:nvSpPr>
        <p:spPr bwMode="auto">
          <a:xfrm>
            <a:off x="4790000" y="2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C</a:t>
            </a:r>
            <a:endParaRPr/>
          </a:p>
        </p:txBody>
      </p:sp>
      <p:sp>
        <p:nvSpPr>
          <p:cNvPr id="730697184" name="t"/>
          <p:cNvSpPr txBox="1"/>
          <p:nvPr/>
        </p:nvSpPr>
        <p:spPr bwMode="auto">
          <a:xfrm>
            <a:off x="4790000" y="3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D</a:t>
            </a:r>
            <a:endParaRPr/>
          </a:p>
        </p:txBody>
      </p:sp>
      <p:sp>
        <p:nvSpPr>
          <p:cNvPr id="1201873644" name="t"/>
          <p:cNvSpPr txBox="1"/>
          <p:nvPr/>
        </p:nvSpPr>
        <p:spPr bwMode="auto">
          <a:xfrm>
            <a:off x="4790000" y="3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E</a:t>
            </a:r>
            <a:endParaRPr/>
          </a:p>
        </p:txBody>
      </p:sp>
      <p:sp>
        <p:nvSpPr>
          <p:cNvPr id="1988075754" name="t"/>
          <p:cNvSpPr txBox="1"/>
          <p:nvPr/>
        </p:nvSpPr>
        <p:spPr bwMode="auto">
          <a:xfrm>
            <a:off x="4790000" y="4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F</a:t>
            </a:r>
            <a:endParaRPr/>
          </a:p>
        </p:txBody>
      </p:sp>
      <p:sp>
        <p:nvSpPr>
          <p:cNvPr id="1705847559" name="t"/>
          <p:cNvSpPr txBox="1"/>
          <p:nvPr/>
        </p:nvSpPr>
        <p:spPr bwMode="auto">
          <a:xfrm>
            <a:off x="4790000" y="48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G</a:t>
            </a:r>
            <a:endParaRPr/>
          </a:p>
        </p:txBody>
      </p:sp>
      <p:sp>
        <p:nvSpPr>
          <p:cNvPr id="1373987025" name="t"/>
          <p:cNvSpPr txBox="1"/>
          <p:nvPr/>
        </p:nvSpPr>
        <p:spPr bwMode="auto">
          <a:xfrm>
            <a:off x="4790000" y="5320000"/>
            <a:ext cx="300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900">
                <a:solidFill>
                  <a:srgbClr val="595959"/>
                </a:solidFill>
                <a:latin typeface="Arial"/>
              </a:rPr>
              <a:t>H</a:t>
            </a:r>
            <a:endParaRPr/>
          </a:p>
        </p:txBody>
      </p:sp>
      <p:sp>
        <p:nvSpPr>
          <p:cNvPr id="1741761254" name="t"/>
          <p:cNvSpPr txBox="1"/>
          <p:nvPr/>
        </p:nvSpPr>
        <p:spPr bwMode="auto">
          <a:xfrm>
            <a:off x="4790000" y="5910000"/>
            <a:ext cx="6360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050">
                <a:solidFill>
                  <a:srgbClr val="595959"/>
                </a:solidFill>
                <a:latin typeface="Arial"/>
              </a:rPr>
              <a:t>Each 6-column block = one cue across 6 concentrations (low </a:t>
            </a:r>
            <a:r>
              <a:rPr lang="en-US" sz="1050" b="1">
                <a:solidFill>
                  <a:srgbClr val="96337A"/>
                </a:solidFill>
                <a:latin typeface="Arial"/>
              </a:rPr>
              <a:t>→</a:t>
            </a:r>
            <a:r>
              <a:rPr lang="en-US" sz="1050">
                <a:solidFill>
                  <a:srgbClr val="595959"/>
                </a:solidFill>
                <a:latin typeface="Arial"/>
              </a:rPr>
              <a:t> high). The 3 rows in each block = replicates.</a:t>
            </a:r>
            <a:endParaRPr/>
          </a:p>
        </p:txBody>
      </p:sp>
      <p:sp>
        <p:nvSpPr>
          <p:cNvPr id="2100692336" name="t"/>
          <p:cNvSpPr txBox="1"/>
          <p:nvPr/>
        </p:nvSpPr>
        <p:spPr bwMode="auto">
          <a:xfrm>
            <a:off x="360000" y="156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100" b="1">
                <a:solidFill>
                  <a:srgbClr val="96337A"/>
                </a:solidFill>
                <a:latin typeface="Arial"/>
              </a:rPr>
              <a:t>DOSING SCHEME</a:t>
            </a:r>
            <a:endParaRPr/>
          </a:p>
        </p:txBody>
      </p:sp>
      <p:sp>
        <p:nvSpPr>
          <p:cNvPr id="1324292636" name="t"/>
          <p:cNvSpPr txBox="1"/>
          <p:nvPr/>
        </p:nvSpPr>
        <p:spPr bwMode="auto">
          <a:xfrm>
            <a:off x="360000" y="1870000"/>
            <a:ext cx="43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250">
                <a:solidFill>
                  <a:srgbClr val="262626"/>
                </a:solidFill>
                <a:latin typeface="Arial"/>
              </a:rPr>
              <a:t>6 concentrations × 3 replicate wells per cue</a:t>
            </a:r>
            <a:endParaRPr/>
          </a:p>
        </p:txBody>
      </p:sp>
      <p:sp>
        <p:nvSpPr>
          <p:cNvPr id="144509969" name="c"/>
          <p:cNvSpPr/>
          <p:nvPr/>
        </p:nvSpPr>
        <p:spPr bwMode="auto">
          <a:xfrm>
            <a:off x="360000" y="2240000"/>
            <a:ext cx="4350000" cy="6400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9050">
            <a:solidFill>
              <a:srgbClr val="0A8C9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721726" name="t"/>
          <p:cNvSpPr txBox="1"/>
          <p:nvPr/>
        </p:nvSpPr>
        <p:spPr bwMode="auto">
          <a:xfrm>
            <a:off x="530000" y="23300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050" b="1">
                <a:solidFill>
                  <a:srgbClr val="0A8C99"/>
                </a:solidFill>
                <a:latin typeface="Arial"/>
              </a:rPr>
              <a:t>Small molecules (µM)</a:t>
            </a:r>
            <a:endParaRPr/>
          </a:p>
        </p:txBody>
      </p:sp>
      <p:sp>
        <p:nvSpPr>
          <p:cNvPr id="1400118334" name="t"/>
          <p:cNvSpPr txBox="1"/>
          <p:nvPr/>
        </p:nvSpPr>
        <p:spPr bwMode="auto">
          <a:xfrm>
            <a:off x="530000" y="2580000"/>
            <a:ext cx="405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250" b="1">
                <a:solidFill>
                  <a:srgbClr val="262626"/>
                </a:solidFill>
                <a:latin typeface="Arial"/>
              </a:rPr>
              <a:t>1  ·  2  ·  4  ·  8  ·  10  ·  20</a:t>
            </a:r>
            <a:endParaRPr/>
          </a:p>
        </p:txBody>
      </p:sp>
      <p:sp>
        <p:nvSpPr>
          <p:cNvPr id="1340304487" name="c"/>
          <p:cNvSpPr/>
          <p:nvPr/>
        </p:nvSpPr>
        <p:spPr bwMode="auto">
          <a:xfrm>
            <a:off x="360000" y="2980000"/>
            <a:ext cx="4350000" cy="640000"/>
          </a:xfrm>
          <a:prstGeom prst="roundRect">
            <a:avLst>
              <a:gd name="adj" fmla="val 8000"/>
            </a:avLst>
          </a:prstGeom>
          <a:solidFill>
            <a:srgbClr val="F4F6F7"/>
          </a:solidFill>
          <a:ln w="19050">
            <a:solidFill>
              <a:srgbClr val="E0902B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747193" name="t"/>
          <p:cNvSpPr txBox="1"/>
          <p:nvPr/>
        </p:nvSpPr>
        <p:spPr bwMode="auto">
          <a:xfrm>
            <a:off x="530000" y="30700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050" b="1">
                <a:solidFill>
                  <a:srgbClr val="B5740A"/>
                </a:solidFill>
                <a:latin typeface="Arial"/>
              </a:rPr>
              <a:t>Proteins (ng/mL)</a:t>
            </a:r>
            <a:endParaRPr/>
          </a:p>
        </p:txBody>
      </p:sp>
      <p:sp>
        <p:nvSpPr>
          <p:cNvPr id="602855163" name="t"/>
          <p:cNvSpPr txBox="1"/>
          <p:nvPr/>
        </p:nvSpPr>
        <p:spPr bwMode="auto">
          <a:xfrm>
            <a:off x="530000" y="3320000"/>
            <a:ext cx="4050000" cy="2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250" b="1">
                <a:solidFill>
                  <a:srgbClr val="262626"/>
                </a:solidFill>
                <a:latin typeface="Arial"/>
              </a:rPr>
              <a:t>1  ·  5  ·  10  ·  20  ·  50  ·  100</a:t>
            </a:r>
            <a:endParaRPr/>
          </a:p>
        </p:txBody>
      </p:sp>
      <p:sp>
        <p:nvSpPr>
          <p:cNvPr id="201681164" name="t"/>
          <p:cNvSpPr txBox="1"/>
          <p:nvPr/>
        </p:nvSpPr>
        <p:spPr bwMode="auto">
          <a:xfrm>
            <a:off x="360000" y="3820000"/>
            <a:ext cx="42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lang="en-US" sz="1100" b="1">
                <a:solidFill>
                  <a:srgbClr val="96337A"/>
                </a:solidFill>
                <a:latin typeface="Arial"/>
              </a:rPr>
              <a:t>LEGEND</a:t>
            </a:r>
            <a:endParaRPr/>
          </a:p>
        </p:txBody>
      </p:sp>
      <p:sp>
        <p:nvSpPr>
          <p:cNvPr id="395933581" name="w"/>
          <p:cNvSpPr/>
          <p:nvPr/>
        </p:nvSpPr>
        <p:spPr bwMode="auto">
          <a:xfrm>
            <a:off x="400000" y="4150000"/>
            <a:ext cx="300000" cy="300000"/>
          </a:xfrm>
          <a:prstGeom prst="ellipse">
            <a:avLst/>
          </a:prstGeom>
          <a:solidFill>
            <a:srgbClr val="0A8C99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4993958" name="t"/>
          <p:cNvSpPr txBox="1"/>
          <p:nvPr/>
        </p:nvSpPr>
        <p:spPr bwMode="auto">
          <a:xfrm>
            <a:off x="820000" y="41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1</a:t>
            </a:r>
            <a:endParaRPr/>
          </a:p>
        </p:txBody>
      </p:sp>
      <p:sp>
        <p:nvSpPr>
          <p:cNvPr id="44384290" name="w"/>
          <p:cNvSpPr/>
          <p:nvPr/>
        </p:nvSpPr>
        <p:spPr bwMode="auto">
          <a:xfrm>
            <a:off x="400000" y="4550000"/>
            <a:ext cx="300000" cy="300000"/>
          </a:xfrm>
          <a:prstGeom prst="ellipse">
            <a:avLst/>
          </a:prstGeom>
          <a:solidFill>
            <a:srgbClr val="96337A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8679353" name="t"/>
          <p:cNvSpPr txBox="1"/>
          <p:nvPr/>
        </p:nvSpPr>
        <p:spPr bwMode="auto">
          <a:xfrm>
            <a:off x="820000" y="45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2</a:t>
            </a:r>
            <a:endParaRPr/>
          </a:p>
        </p:txBody>
      </p:sp>
      <p:sp>
        <p:nvSpPr>
          <p:cNvPr id="1320236683" name="w"/>
          <p:cNvSpPr/>
          <p:nvPr/>
        </p:nvSpPr>
        <p:spPr bwMode="auto">
          <a:xfrm>
            <a:off x="400000" y="4950000"/>
            <a:ext cx="300000" cy="300000"/>
          </a:xfrm>
          <a:prstGeom prst="ellipse">
            <a:avLst/>
          </a:prstGeom>
          <a:solidFill>
            <a:srgbClr val="E0902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412617" name="t"/>
          <p:cNvSpPr txBox="1"/>
          <p:nvPr/>
        </p:nvSpPr>
        <p:spPr bwMode="auto">
          <a:xfrm>
            <a:off x="820000" y="49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3</a:t>
            </a:r>
            <a:endParaRPr/>
          </a:p>
        </p:txBody>
      </p:sp>
      <p:sp>
        <p:nvSpPr>
          <p:cNvPr id="92535339" name="w"/>
          <p:cNvSpPr/>
          <p:nvPr/>
        </p:nvSpPr>
        <p:spPr bwMode="auto">
          <a:xfrm>
            <a:off x="400000" y="5350000"/>
            <a:ext cx="300000" cy="300000"/>
          </a:xfrm>
          <a:prstGeom prst="ellipse">
            <a:avLst/>
          </a:prstGeom>
          <a:solidFill>
            <a:srgbClr val="53636B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2955756" name="t"/>
          <p:cNvSpPr txBox="1"/>
          <p:nvPr/>
        </p:nvSpPr>
        <p:spPr bwMode="auto">
          <a:xfrm>
            <a:off x="820000" y="53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Chemical 4</a:t>
            </a:r>
            <a:endParaRPr/>
          </a:p>
        </p:txBody>
      </p:sp>
      <p:sp>
        <p:nvSpPr>
          <p:cNvPr id="433043959" name="w"/>
          <p:cNvSpPr/>
          <p:nvPr/>
        </p:nvSpPr>
        <p:spPr bwMode="auto">
          <a:xfrm>
            <a:off x="400000" y="5750000"/>
            <a:ext cx="300000" cy="300000"/>
          </a:xfrm>
          <a:prstGeom prst="ellipse">
            <a:avLst/>
          </a:prstGeom>
          <a:solidFill>
            <a:srgbClr val="E1EEF0"/>
          </a:solidFill>
          <a:ln w="9525">
            <a:solidFill>
              <a:srgbClr val="BBD4D9"/>
            </a:solidFill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6565533" name="t"/>
          <p:cNvSpPr txBox="1"/>
          <p:nvPr/>
        </p:nvSpPr>
        <p:spPr bwMode="auto">
          <a:xfrm>
            <a:off x="820000" y="575000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defRPr/>
            </a:pPr>
            <a:r>
              <a:rPr lang="en-US" sz="1200">
                <a:solidFill>
                  <a:srgbClr val="262626"/>
                </a:solidFill>
                <a:latin typeface="Arial"/>
              </a:rPr>
              <a:t>DMSO / vehicle control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872781" name="Title 1"/>
          <p:cNvSpPr>
            <a:spLocks noGrp="1"/>
          </p:cNvSpPr>
          <p:nvPr>
            <p:ph type="title"/>
          </p:nvPr>
        </p:nvSpPr>
        <p:spPr bwMode="auto">
          <a:xfrm>
            <a:off x="360000" y="360363"/>
            <a:ext cx="10951559" cy="302112"/>
          </a:xfrm>
        </p:spPr>
        <p:txBody>
          <a:bodyPr/>
          <a:lstStyle/>
          <a:p>
            <a:pPr>
              <a:defRPr/>
            </a:pPr>
            <a:r>
              <a:rPr/>
              <a:t>rEAD OUT-Qpcr OR facs</a:t>
            </a:r>
            <a:endParaRPr/>
          </a:p>
        </p:txBody>
      </p:sp>
      <p:sp>
        <p:nvSpPr>
          <p:cNvPr id="1298603070" name="Content Placeholder 2"/>
          <p:cNvSpPr>
            <a:spLocks noGrp="1"/>
          </p:cNvSpPr>
          <p:nvPr>
            <p:ph idx="1"/>
          </p:nvPr>
        </p:nvSpPr>
        <p:spPr bwMode="auto">
          <a:xfrm>
            <a:off x="360000" y="1080000"/>
            <a:ext cx="11248199" cy="3033119"/>
          </a:xfrm>
        </p:spPr>
        <p:txBody>
          <a:bodyPr/>
          <a:lstStyle/>
          <a:p>
            <a:pPr>
              <a:defRPr/>
            </a:pPr>
            <a:r>
              <a:rPr/>
              <a:t>qPCR: wash pellets-freeze down plate</a:t>
            </a:r>
            <a:r>
              <a:rPr/>
              <a:t> -outsource for qPCR for OCT4/SOX/2 and other genes of interests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FACS: wash pellets-accmax 15 mins - combine 3 replicated of digest cells into one group- fix 30 mins -OCT4/SOX2 IC stains 30 mins- Flow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Phenotype to look for: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Faster down regulation of OCT4 by FACS</a:t>
            </a:r>
            <a:endParaRPr/>
          </a:p>
          <a:p>
            <a:pPr>
              <a:defRPr/>
            </a:pPr>
            <a:r>
              <a:rPr/>
              <a:t>Faster down-regulation of SOX2 by FACS</a:t>
            </a:r>
            <a:endParaRPr/>
          </a:p>
          <a:p>
            <a:pPr>
              <a:defRPr/>
            </a:pPr>
            <a:r>
              <a:rPr/>
              <a:t>Characterization of T, EOMES, MIXL1 and other pan-mesoderm early markers (KDR, PDGFR) in qPCR</a:t>
            </a:r>
            <a:r>
              <a:rPr/>
              <a:t> assays 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866918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0061086-98B5-1D65-7C9C-5C520EDB3F97}" type="slidenum">
              <a:rPr lang="uk-UA"/>
              <a:t>4</a:t>
            </a:fld>
            <a:endParaRPr lang="uk-UA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020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5276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C2553BD-0BA3-6B85-FB09-FBAA367F9E6B}" type="slidenum">
              <a:rPr lang="uk-UA"/>
              <a:t>7</a:t>
            </a:fld>
            <a:endParaRPr lang="uk-UA"/>
          </a:p>
        </p:txBody>
      </p:sp>
      <p:sp>
        <p:nvSpPr>
          <p:cNvPr id="1175200368" name="Title 1"/>
          <p:cNvSpPr>
            <a:spLocks noGrp="1"/>
          </p:cNvSpPr>
          <p:nvPr/>
        </p:nvSpPr>
        <p:spPr bwMode="auto">
          <a:xfrm>
            <a:off x="360000" y="665062"/>
            <a:ext cx="10964518" cy="302112"/>
          </a:xfr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200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Redefine the roadmap of the CURRENT STAGE 1-2 protocol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616" y="310896"/>
            <a:ext cx="10881360" cy="457200"/>
          </a:xfrm>
        </p:spPr>
        <p:txBody>
          <a:bodyPr wrap="square"/>
          <a:lstStyle/>
          <a:p>
            <a:r>
              <a:rPr sz="2000" b="1" i="0">
                <a:solidFill>
                  <a:srgbClr val="212121"/>
                </a:solidFill>
                <a:latin typeface="Arial"/>
              </a:rPr>
              <a:t>Defining the Stage 1–2 window: a PS → ME → IM → CM marker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96528" y="786384"/>
            <a:ext cx="303580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63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96337A"/>
                </a:solidFill>
                <a:latin typeface="Arial"/>
              </a:rPr>
              <a:t>Ref · Lam et al., J Am Soc Nephrol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768096"/>
            <a:ext cx="822960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404040"/>
                </a:solidFill>
                <a:latin typeface="Arial"/>
              </a:rPr>
              <a:t>Map our CHIR→KOSR auto-pilot onto the staged kidney lineage, then place </a:t>
            </a:r>
            <a:r>
              <a:rPr sz="1350" b="1" i="0">
                <a:solidFill>
                  <a:srgbClr val="96337A"/>
                </a:solidFill>
                <a:latin typeface="Arial"/>
              </a:rPr>
              <a:t>minimal cues at the right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" y="1700784"/>
            <a:ext cx="102412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6B6B"/>
                </a:solidFill>
                <a:latin typeface="Arial"/>
              </a:rPr>
              <a:t>OUR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6B6B"/>
                </a:solidFill>
                <a:latin typeface="Arial"/>
              </a:rPr>
              <a:t>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2194560"/>
            <a:ext cx="1024128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6337A"/>
                </a:solidFill>
                <a:latin typeface="Arial"/>
              </a:rPr>
              <a:t>Lam et al.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96337A"/>
                </a:solidFill>
                <a:latin typeface="Arial"/>
              </a:rPr>
              <a:t>LINEAGE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9755" y="1335024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63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6337A"/>
                </a:solidFill>
                <a:latin typeface="Arial"/>
              </a:rPr>
              <a:t>❶  + FGF2 + RA  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335024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5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B4588F"/>
                </a:solidFill>
                <a:latin typeface="Arial"/>
              </a:rPr>
              <a:t>❷  + FGF9 + Activin  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4752" y="1719072"/>
            <a:ext cx="2596896" cy="365760"/>
          </a:xfrm>
          <a:prstGeom prst="roundRect">
            <a:avLst>
              <a:gd name="adj" fmla="val 10000"/>
            </a:avLst>
          </a:prstGeom>
          <a:solidFill>
            <a:srgbClr val="0A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Stage 1 · CHIR 8 µM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719072"/>
            <a:ext cx="7790688" cy="365760"/>
          </a:xfrm>
          <a:prstGeom prst="roundRect">
            <a:avLst>
              <a:gd name="adj" fmla="val 6000"/>
            </a:avLst>
          </a:prstGeom>
          <a:solidFill>
            <a:srgbClr val="70D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12121"/>
                </a:solidFill>
                <a:latin typeface="Arial"/>
              </a:rPr>
              <a:t>Stage 2 · 5% KOSR  (auto-pilot)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" y="2212848"/>
            <a:ext cx="1298448" cy="384048"/>
          </a:xfrm>
          <a:prstGeom prst="roundRect">
            <a:avLst>
              <a:gd name="adj" fmla="val 10000"/>
            </a:avLst>
          </a:prstGeom>
          <a:solidFill>
            <a:srgbClr val="6E2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PS / 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212848"/>
            <a:ext cx="1947672" cy="384048"/>
          </a:xfrm>
          <a:prstGeom prst="roundRect">
            <a:avLst>
              <a:gd name="adj" fmla="val 10000"/>
            </a:avLst>
          </a:prstGeom>
          <a:solidFill>
            <a:srgbClr val="96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0872" y="2212848"/>
            <a:ext cx="2596896" cy="384048"/>
          </a:xfrm>
          <a:prstGeom prst="roundRect">
            <a:avLst>
              <a:gd name="adj" fmla="val 10000"/>
            </a:avLst>
          </a:prstGeom>
          <a:solidFill>
            <a:srgbClr val="B45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2212848"/>
            <a:ext cx="4544568" cy="384048"/>
          </a:xfrm>
          <a:prstGeom prst="roundRect">
            <a:avLst>
              <a:gd name="adj" fmla="val 10000"/>
            </a:avLst>
          </a:prstGeom>
          <a:solidFill>
            <a:srgbClr val="D9B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212121"/>
                </a:solidFill>
                <a:latin typeface="Arial"/>
              </a:rPr>
              <a:t>Differentiated · readout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8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85448" y="2633472"/>
            <a:ext cx="493776" cy="201168"/>
          </a:xfrm>
          <a:prstGeom prst="rect">
            <a:avLst/>
          </a:prstGeom>
          <a:noFill/>
        </p:spPr>
        <p:txBody>
          <a:bodyPr wrap="none" anchor="ctr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D16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852928"/>
            <a:ext cx="10387584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6B6B"/>
                </a:solidFill>
                <a:latin typeface="Arial"/>
              </a:rPr>
              <a:t>Day windows are approximate — to be anchored empirically in our hands (see proposed time-course).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6E24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6E2459"/>
                </a:solidFill>
                <a:latin typeface="Arial"/>
              </a:rPr>
              <a:t>❶  PS / ME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Mesendoderm · ≈ D0–D2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Markers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BRACHYURY(T) · MIXL1 · EOMES;  OCT4/SOX2 ↓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Cue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CHIR — already in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62122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963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96337A"/>
                </a:solidFill>
                <a:latin typeface="Arial"/>
              </a:rPr>
              <a:t>❷  IM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Intermediate mesoderm · ≈ D2–D5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Markers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PAX2 · LHX1 · OSR1 · PAX8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96337A"/>
                </a:solidFill>
                <a:latin typeface="Arial"/>
              </a:rPr>
              <a:t>Add (new)  </a:t>
            </a:r>
            <a:r>
              <a:rPr sz="1000" b="1" i="0">
                <a:solidFill>
                  <a:srgbClr val="96337A"/>
                </a:solidFill>
                <a:latin typeface="Arial"/>
              </a:rPr>
              <a:t>FGF2 100 ng/mL + RA 1 µM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7628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B458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B4588F"/>
                </a:solidFill>
                <a:latin typeface="Arial"/>
              </a:rPr>
              <a:t>❸  CM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Cap mesenchyme · ≈ D5–D9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Markers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SIX2 · SALL1 · WT1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B4588F"/>
                </a:solidFill>
                <a:latin typeface="Arial"/>
              </a:rPr>
              <a:t>Add (opt.)  </a:t>
            </a:r>
            <a:r>
              <a:rPr sz="1000" b="1" i="0">
                <a:solidFill>
                  <a:srgbClr val="B4588F"/>
                </a:solidFill>
                <a:latin typeface="Arial"/>
              </a:rPr>
              <a:t>FGF9 100 + Activin 10 ng/mL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3134" y="3163824"/>
            <a:ext cx="2759202" cy="162763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 w="15875">
            <a:solidFill>
              <a:srgbClr val="8E9B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8E9BA3"/>
                </a:solidFill>
                <a:latin typeface="Arial"/>
              </a:rPr>
              <a:t>❹  Differentiated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Readout · D9–D16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iPODO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CD249 / CD49c  </a:t>
            </a:r>
            <a:r>
              <a:rPr sz="1000" b="1" i="0">
                <a:solidFill>
                  <a:srgbClr val="12895A"/>
                </a:solidFill>
                <a:latin typeface="Arial"/>
              </a:rPr>
              <a:t>50–60% @D16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12121"/>
                </a:solidFill>
                <a:latin typeface="Arial"/>
              </a:rPr>
              <a:t>iPTEC  </a:t>
            </a:r>
            <a:r>
              <a:rPr sz="1000" b="0" i="0">
                <a:solidFill>
                  <a:srgbClr val="212121"/>
                </a:solidFill>
                <a:latin typeface="Arial"/>
              </a:rPr>
              <a:t>LTL⁺  </a:t>
            </a:r>
            <a:r>
              <a:rPr sz="1000" b="1" i="0">
                <a:solidFill>
                  <a:srgbClr val="C0394B"/>
                </a:solidFill>
                <a:latin typeface="Arial"/>
              </a:rPr>
              <a:t>~10% — lift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901184"/>
            <a:ext cx="10058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96337A"/>
                </a:solidFill>
                <a:latin typeface="Arial"/>
              </a:rPr>
              <a:t>PROPOSED — DEFINE THE WINDOW, THEN ADD ONE CUE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" y="5175504"/>
            <a:ext cx="3703320" cy="1005840"/>
          </a:xfrm>
          <a:prstGeom prst="roundRect">
            <a:avLst>
              <a:gd name="adj" fmla="val 6000"/>
            </a:avLst>
          </a:prstGeom>
          <a:solidFill>
            <a:srgbClr val="F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12121"/>
                </a:solidFill>
                <a:latin typeface="Arial"/>
              </a:rPr>
              <a:t>①  Anchor the windows.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Time-course qPCR/FACS across D0–D6 to pinpoint the ME peak (T/MIXL1/EOMES) and IM onset (PAX2/LHX1) in our line — fixes when each window opens.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42816" y="5175504"/>
            <a:ext cx="3703320" cy="1005840"/>
          </a:xfrm>
          <a:prstGeom prst="roundRect">
            <a:avLst>
              <a:gd name="adj" fmla="val 6000"/>
            </a:avLst>
          </a:prstGeom>
          <a:solidFill>
            <a:srgbClr val="F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12121"/>
                </a:solidFill>
                <a:latin typeface="Arial"/>
              </a:rPr>
              <a:t>②  Add one minimal cue.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A short FGF2 + RA pulse in the IM window, CHIR→KOSR backbone unchanged — expect more PAX2⁺LHX1⁺ IM and a higher LTL⁺ iPTEC fraction.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9016" y="5175504"/>
            <a:ext cx="3703320" cy="1005840"/>
          </a:xfrm>
          <a:prstGeom prst="roundRect">
            <a:avLst>
              <a:gd name="adj" fmla="val 6000"/>
            </a:avLst>
          </a:prstGeom>
          <a:solidFill>
            <a:srgbClr val="F6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12121"/>
                </a:solidFill>
                <a:latin typeface="Arial"/>
              </a:rPr>
              <a:t>③  Tune the nephron pool (opt.).  </a:t>
            </a:r>
            <a:r>
              <a:rPr sz="1050" b="0" i="0">
                <a:solidFill>
                  <a:srgbClr val="212121"/>
                </a:solidFill>
                <a:latin typeface="Arial"/>
              </a:rPr>
              <a:t>FGF9 + Activin to expand SIX2⁺ cap-mesenchyme progenitors and rebalance iPODO vs iPTEC output.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6327648"/>
            <a:ext cx="1147572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6B6B"/>
                </a:solidFill>
                <a:latin typeface="Arial"/>
              </a:rPr>
              <a:t>Lam AQ, Freedman BS, Morizane R, Lerou PH, Valerius MT, Bonventre JV. </a:t>
            </a:r>
            <a:r>
              <a:rPr sz="850" b="0" i="1">
                <a:solidFill>
                  <a:srgbClr val="6B6B6B"/>
                </a:solidFill>
                <a:latin typeface="Arial"/>
              </a:rPr>
              <a:t>Rapid and Efficient Differentiation of Human Pluripotent Stem Cells into Intermediate Mesoderm That Forms Tubules Expressing Kidney Proximal Tubular Markers.</a:t>
            </a:r>
            <a:r>
              <a:rPr sz="850" b="0" i="0">
                <a:solidFill>
                  <a:srgbClr val="6B6B6B"/>
                </a:solidFill>
                <a:latin typeface="Arial"/>
              </a:rPr>
              <a:t> J Am Soc Nephrol 25:1211–1225, 2014. doi:10.1681/ASN.2013080831. Stages/markers/doses per Fig 1–5 &amp; Methods.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iviva">
      <a:dk1>
        <a:sysClr val="windowText" lastClr="000000"/>
      </a:dk1>
      <a:lt1>
        <a:sysClr val="window" lastClr="FFFFFF"/>
      </a:lt1>
      <a:dk2>
        <a:srgbClr val="96337A"/>
      </a:dk2>
      <a:lt2>
        <a:srgbClr val="FFFFFF"/>
      </a:lt2>
      <a:accent1>
        <a:srgbClr val="0A8C99"/>
      </a:accent1>
      <a:accent2>
        <a:srgbClr val="70D9E3"/>
      </a:accent2>
      <a:accent3>
        <a:srgbClr val="70D9E3"/>
      </a:accent3>
      <a:accent4>
        <a:srgbClr val="70D9E3"/>
      </a:accent4>
      <a:accent5>
        <a:srgbClr val="70D9E3"/>
      </a:accent5>
      <a:accent6>
        <a:srgbClr val="70D9E3"/>
      </a:accent6>
      <a:hlink>
        <a:srgbClr val="000000"/>
      </a:hlink>
      <a:folHlink>
        <a:srgbClr val="000000"/>
      </a:folHlink>
    </a:clrScheme>
    <a:fontScheme name="iviva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920d84d-157f-48eb-988d-2bcff3f18041" xsi:nil="true"/>
    <lcf76f155ced4ddcb4097134ff3c332f xmlns="60261299-7910-4f59-878f-be3a4109a3b4">
      <Terms xmlns="http://schemas.microsoft.com/office/infopath/2007/PartnerControls"/>
    </lcf76f155ced4ddcb4097134ff3c332f>
    <Status xmlns="60261299-7910-4f59-878f-be3a4109a3b4" xsi:nil="true"/>
  </documentManagement>
</p:properties>
</file>

<file path=customXml/item2.xml><?xml version="1.0" encoding="utf-8"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E329AA8715E147BEBA1B36BDF18C48" ma:contentTypeVersion="14" ma:contentTypeDescription="Create a new document." ma:contentTypeScope="" ma:versionID="d5c3a06abeba30e516ae3ad16f2a7835">
  <xsd:schema xmlns:xsd="http://www.w3.org/2001/XMLSchema" xmlns:xs="http://www.w3.org/2001/XMLSchema" xmlns:p="http://schemas.microsoft.com/office/2006/metadata/properties" xmlns:ns2="60261299-7910-4f59-878f-be3a4109a3b4" xmlns:ns3="9920d84d-157f-48eb-988d-2bcff3f18041" targetNamespace="http://schemas.microsoft.com/office/2006/metadata/properties" ma:root="true" ma:fieldsID="eedca15022a690c8b44335ceaa36d12b" ns2:_="" ns3:_="">
    <xsd:import namespace="60261299-7910-4f59-878f-be3a4109a3b4"/>
    <xsd:import namespace="9920d84d-157f-48eb-988d-2bcff3f180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ServiceLocatio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261299-7910-4f59-878f-be3a4109a3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07517e3-f975-4cba-8915-51f1418fdf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Status" ma:index="21" nillable="true" ma:displayName="Status" ma:format="Dropdown" ma:internalName="Statu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Transferred"/>
                        <xsd:enumeration value="Analyzed"/>
                        <xsd:enumeration value="Benching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20d84d-157f-48eb-988d-2bcff3f180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60c3839-7989-416f-a6cc-26f4364b4243}" ma:internalName="TaxCatchAll" ma:showField="CatchAllData" ma:web="9920d84d-157f-48eb-988d-2bcff3f180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05076FE0-CC9A-4925-9447-D9062B8BDD32">
  <ds:schemaRefs>
    <ds:schemaRef ds:uri="60261299-7910-4f59-878f-be3a4109a3b4"/>
    <ds:schemaRef ds:uri="9920d84d-157f-48eb-988d-2bcff3f18041"/>
    <ds:schemaRef ds:uri="http://schemas.microsoft.com/office/2006/metadata/properties"/>
    <ds:schemaRef ds:uri="http://schemas.microsoft.com/office/infopath/2007/PartnerControls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0371BC37-2BD8-4A58-A11F-9824A2FF365B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0A707329-570E-409B-B10F-CC4470B8057E">
  <ds:schemaRefs>
    <ds:schemaRef ds:uri="60261299-7910-4f59-878f-be3a4109a3b4"/>
    <ds:schemaRef ds:uri="9920d84d-157f-48eb-988d-2bcff3f1804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 Therapeutics  To Cure Chronic diseases</dc:title>
  <dc:creator>Harald C Ott</dc:creator>
  <cp:lastModifiedBy/>
  <cp:revision>112</cp:revision>
  <dcterms:created xsi:type="dcterms:W3CDTF">2023-01-18T01:32:31Z</dcterms:created>
  <dcterms:modified xsi:type="dcterms:W3CDTF">2026-05-23T16:19:39Z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0x01010024E329AA8715E147BEBA1B36BDF18C48</vt:lpwstr>
  </property>
  <property fmtid="{D5CDD505-2E9C-101B-9397-08002B2CF9AE}" pid="3" name="MediaServiceImageTags">
    <vt:lpwstr/>
  </property>
</Properties>
</file>